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14ad2e1-5d95-1d84-c448-1c4b6811d6d1}">
          <p14:sldIdLst>
            <p14:sldId id="256"/>
          </p14:sldIdLst>
        </p14:section>
        <p14:section name="Problem" id="{f420e8c5-7921-66f0-c0d1-3b643d25fe46}">
          <p14:sldIdLst>
            <p14:sldId id="257"/>
            <p14:sldId id="258"/>
          </p14:sldIdLst>
        </p14:section>
        <p14:section name="Solution" id="{aab568b0-ff95-7a7a-da67-9337eab365a4}">
          <p14:sldIdLst>
            <p14:sldId id="259"/>
            <p14:sldId id="260"/>
            <p14:sldId id="261"/>
            <p14:sldId id="262"/>
          </p14:sldIdLst>
        </p14:section>
        <p14:section name="Evidence" id="{155ec910-b72f-c61b-7bfb-dab72db47326}">
          <p14:sldIdLst>
            <p14:sldId id="263"/>
          </p14:sldIdLst>
        </p14:section>
        <p14:section name="Outlook" id="{4375fd67-1627-aa46-aac8-bd7a44a6b59a}">
          <p14:sldIdLst>
            <p14:sldId id="264"/>
            <p14:sldId id="265"/>
          </p14:sldIdLst>
        </p14:section>
        <p14:section name="Appendix" id="{a1277054-a00e-0ba3-66be-8f5990b7f94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c:v>
                </c:pt>
              </c:strCache>
            </c:strRef>
          </c:tx>
          <c:spPr>
            <a:solidFill>
              <a:srgbClr val="6B7A90"/>
            </a:solidFill>
            <a:effectLst/>
          </c:spPr>
          <c:invertIfNegative val="0"/>
          <c:dLbls>
            <c:numFmt formatCode="0.0&quot;%&quot;" sourceLinked="0"/>
            <c:txPr>
              <a:bodyPr/>
              <a:lstStyle/>
              <a:p>
                <a:pPr>
                  <a:defRPr b="0" i="0" strike="noStrike" sz="1000" u="none">
                    <a:solidFill>
                      <a:srgbClr val="F4F0E8"/>
                    </a:solidFill>
                    <a:latin typeface="+mn-lt"/>
                  </a:defRPr>
                </a:pPr>
              </a:p>
            </c:txPr>
            <c:showLegendKey val="0"/>
            <c:showVal val="1"/>
            <c:showCatName val="0"/>
            <c:showSerName val="0"/>
            <c:showPercent val="0"/>
            <c:showBubbleSize val="0"/>
            <c:showLeaderLines val="0"/>
          </c:dLbls>
          <c:cat>
            <c:multiLvlStrRef>
              <c:f>Sheet1!$A$2:$A$6</c:f>
              <c:multiLvlStrCache>
                <c:ptCount val="5"/>
                <c:lvl>
                  <c:pt idx="0">
                    <c:v>Failure ↓</c:v>
                  </c:pt>
                  <c:pt idx="1">
                    <c:v>Supported ↑</c:v>
                  </c:pt>
                  <c:pt idx="2">
                    <c:v>Contradicted ↓</c:v>
                  </c:pt>
                  <c:pt idx="3">
                    <c:v>Recall@5 ↑</c:v>
                  </c:pt>
                  <c:pt idx="4">
                    <c:v>Abstention ↑</c:v>
                  </c:pt>
                </c:lvl>
              </c:multiLvlStrCache>
            </c:multiLvlStrRef>
          </c:cat>
          <c:val>
            <c:numRef>
              <c:f>Sheet1!$B$2:$B$6</c:f>
              <c:numCache>
                <c:formatCode>General</c:formatCode>
                <c:ptCount val="5"/>
                <c:pt idx="0">
                  <c:v>80</c:v>
                </c:pt>
                <c:pt idx="1">
                  <c:v>32</c:v>
                </c:pt>
                <c:pt idx="2">
                  <c:v>12</c:v>
                </c:pt>
                <c:pt idx="3">
                  <c:v>68.2</c:v>
                </c:pt>
                <c:pt idx="4">
                  <c:v>0</c:v>
                </c:pt>
              </c:numCache>
            </c:numRef>
          </c:val>
        </c:ser>
        <c:ser>
          <c:idx val="1"/>
          <c:order val="1"/>
          <c:tx>
            <c:strRef>
              <c:f>Sheet1!$C$1</c:f>
              <c:strCache>
                <c:ptCount val="1"/>
                <c:pt idx="0">
                  <c:v>JC-PAR</c:v>
                </c:pt>
              </c:strCache>
            </c:strRef>
          </c:tx>
          <c:spPr>
            <a:solidFill>
              <a:srgbClr val="C5A059"/>
            </a:solidFill>
            <a:effectLst/>
          </c:spPr>
          <c:invertIfNegative val="0"/>
          <c:dLbls>
            <c:numFmt formatCode="0.0&quot;%&quot;" sourceLinked="0"/>
            <c:txPr>
              <a:bodyPr/>
              <a:lstStyle/>
              <a:p>
                <a:pPr>
                  <a:defRPr b="0" i="0" strike="noStrike" sz="1000" u="none">
                    <a:solidFill>
                      <a:srgbClr val="F4F0E8"/>
                    </a:solidFill>
                    <a:latin typeface="+mn-lt"/>
                  </a:defRPr>
                </a:pPr>
              </a:p>
            </c:txPr>
            <c:showLegendKey val="0"/>
            <c:showVal val="1"/>
            <c:showCatName val="0"/>
            <c:showSerName val="0"/>
            <c:showPercent val="0"/>
            <c:showBubbleSize val="0"/>
            <c:showLeaderLines val="0"/>
          </c:dLbls>
          <c:cat>
            <c:multiLvlStrRef>
              <c:f>Sheet1!$A$2:$A$6</c:f>
              <c:multiLvlStrCache>
                <c:ptCount val="5"/>
                <c:lvl>
                  <c:pt idx="0">
                    <c:v>Failure ↓</c:v>
                  </c:pt>
                  <c:pt idx="1">
                    <c:v>Supported ↑</c:v>
                  </c:pt>
                  <c:pt idx="2">
                    <c:v>Contradicted ↓</c:v>
                  </c:pt>
                  <c:pt idx="3">
                    <c:v>Recall@5 ↑</c:v>
                  </c:pt>
                  <c:pt idx="4">
                    <c:v>Abstention ↑</c:v>
                  </c:pt>
                </c:lvl>
              </c:multiLvlStrCache>
            </c:multiLvlStrRef>
          </c:cat>
          <c:val>
            <c:numRef>
              <c:f>Sheet1!$C$2:$C$6</c:f>
              <c:numCache>
                <c:formatCode>General</c:formatCode>
                <c:ptCount val="5"/>
                <c:pt idx="0">
                  <c:v>72</c:v>
                </c:pt>
                <c:pt idx="1">
                  <c:v>44</c:v>
                </c:pt>
                <c:pt idx="2">
                  <c:v>4</c:v>
                </c:pt>
                <c:pt idx="3">
                  <c:v>54.5</c:v>
                </c:pt>
                <c:pt idx="4">
                  <c:v>100</c:v>
                </c:pt>
              </c:numCache>
            </c:numRef>
          </c:val>
        </c:ser>
        <c:dLbls>
          <c:numFmt formatCode="0.0&quot;%&quot;" sourceLinked="0"/>
          <c:txPr>
            <a:bodyPr/>
            <a:lstStyle/>
            <a:p>
              <a:pPr>
                <a:defRPr b="0" i="0" strike="noStrike" sz="1000" u="none">
                  <a:solidFill>
                    <a:srgbClr val="F4F0E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AEB6C4"/>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AEB6C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SAY: We're No Sleep Till Deploy, and this is HNX Legal Intelligence for HNX26EPS01, the Agentic Legal Assistant. Our premise is simple: in legal work, a fluent answer isn't a reliable one. If an AI says who carries liability, it has to show the exact clause — or admit that it doesn't know.
TAKEAWAY: Legal AI must prove what it says.
NEXT: Here's why that matters on a real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SAY: Contracts are hard because the answer is rarely in one place. Obligations are scattered, and words like 'subject to' or 'notwithstanding' can reverse a rule. Take one question from our test contract. The fluent answer says the provider isn't liable for customs delays — that's half true. Section 2.3 overrides 2.2 for temperature-sensitive goods. The verifiable answer quotes both clauses and shows the override.
TAKEAWAY: The missing exception is the dangerous part — and the user must be able to check it.
NOTE: no market statistics are claimed on this slide; none are sourced.
NEXT: So why don't today's approaches solve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SAY: Manual review is trustworthy, but slow to evidence. Generic document chat is fast, but sources are often missing and gaps get filled with plausible text. HNX keeps the speed and adds the evidence: checked quotes, followed cross-references, and an explicit 'not in this contract'. And look at the last row — a lawyer still reviews. We help them verify faster.
TAKEAWAY: An answer without evidence isn't enough for legal work.
NEXT: Here's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SAY: You upload a PDF, text or Markdown contract. We chunk it by section and keep the section path and page. Each question runs keyword and semantic search, fuses the two, follows cross-references, and then checks two things: is there enough evidence at all, and do the quotes really exist in the source? The output is a cited answer or an explicit abstention. This screenshot is the real product.
TAKEAWAY: Every answer is a claim plus its evidence.
NEXT: Let's prove it on a contract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 live demo]
DO (before the pitch): in Contract Workspace click '+ Add document', upload data/demo/demo_contract.md, then select 'Commercial Logistics and Cold-Chain Master Agreement' in the document list.
DO — question 1, type exactly: Is the service provider liable for spoilage of temperature sensitive goods when customs detention delays delivery?
EXPECT (verified 9 Oct): SUPPORTED; evidence sources §2.3, §2 and §5; the quoted §2.3 text 'Notwithstanding Section 2.2 … strictly liable for consignment spoilage exceeding four (4) hours … regardless of customs detention'; the Related provision box linking §2.3 and §2.2.
SAY: Customs delays are excused in general — but not spoilage of temperature-sensitive goods beyond four hours. And you can see exactly which clauses say so.
DO — question 2, type exactly: What are the aircraft hangar maintenance guidelines and hazardous chemical disposal protocols?
EXPECT: INSUFFICIENT, zero citations, and the 'Evidence Not Found — Refusal to Speculate' box naming the missing subject matter.
SAY: Nothing in this contract covers that, so it refuses instead of inventing an answer.
BACKUP: 'What is the standard delivery window for freight consignments?' returns §2.1 'forty-eight (48) hours' verbatim (the extractive path may append neighbouring clauses). Avoid the invoice payment-terms question: on 9 Oct it returned the overdue-interest sentence but missed the 30-day term. If the system is unreachable, use appendix slide A2.
NEXT: Here's what's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SAY: Six layers, all in the code. Retrieval is scoped to the contract you picked. BM25 — which we wrote ourselves — catches exact legal terms and section numbers; Gemini embeddings catch paraphrases. Reciprocal Rank Fusion merges the two lists by rank. When a clause says 'subject to' or 'notwithstanding', we pull in the clause it points to. Finally, if the question's core terms aren't in the evidence, we abstain before calling the model — and every cited quote must exist verbatim in the source.
IF ASKED: an exact quote proves the text exists, not that the claim built on it is correct. Claim-level entailment is on the roadmap.
NEXT: Here's the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SAY: React and TypeScript on the front, FastAPI behind it. A question flows left to right: parse, chunk, index, retrieve, expand, gate, generate with Gemini 3.5 Flash in a strict JSON schema, then validate. If an API fails, we degrade instead of breaking. Drafting is template-based on purpose — no LLM writes the notice. And to be clear: contract text goes to Google's Gemini API when it's enabled; we claim no compliance certifications.
NEXT: So how do we know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SAY: We measured. On the left, plain hybrid RAG with real Gemini on 16 questions: the right document every time, 15 of 16 abstention calls correct, no citation outside the evidence, and 25 of 28 quotes exact. It's a small, technical set, and recall is document-level. On the right is our research: 25 adversarial legal cases broke the baseline 80% of the time. JC-PAR took correct abstention from zero of three to three of three and cut contradictions from 12 to 4 percent — but Recall@5 fell from 68 to 55. We show that rather than hide it. All 34 automated tests pass.
IF ASKED: the stress-test runs used the extractive generator on the 8 Oct code; details are in appendix A1.
TAKEAWAY: Every number comes with its caveat.
NEXT: So what is it good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SAY: It's built to get lawyers to the right clause, with its evidence and its exceptions, and to say when the contract is silent. Those are design goals — we haven't measured them with lawyers yet. Limits we state up front: review is still required, a quote isn't proof, conflict flags rely on the model, and we don't read Word files or scans yet. Next: claim-level entailment, rule-based conflict flags, fixing the recall penalty, and evaluation with practising lawyers.
NEXT: To close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SAY: HNX treats every legal answer as a claim that must carry its evidence — or say plainly that the evidence isn't there. Don't just generate an answer. Show why it deserves to be trusted. Ask us anything about the unseen contract, and inspect the evidence trail yourself.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use only if judges ask about methodology. Every number here comes from a file in the repository; see presentation/README.md for the full verification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the live system is unreachable, walk through these two real captures instead: the cross-clause answer with its evidence sources, and the drafting desk with the lawyer-review banner and separate evidence panel. Say clearly that these are screenshots, not a live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NX_CONTENT">
    <p:bg>
      <p:bgPr>
        <a:solidFill>
          <a:srgbClr val="080C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731520"/>
          </a:xfrm>
          <a:prstGeom prst="rect">
            <a:avLst/>
          </a:prstGeom>
          <a:noFill/>
          <a:ln/>
        </p:spPr>
        <p:txBody>
          <a:bodyPr wrap="square" rtlCol="0"/>
          <a:lstStyle>
            <a:lvl1pPr algn="l" indent="0" marL="0">
              <a:buNone/>
              <a:defRPr lang="en-US" sz="3200" dirty="0">
                <a:solidFill>
                  <a:schemeClr val="bg1"/>
                </a:solidFill>
                <a:latin typeface="Georgia" pitchFamily="34" charset="0"/>
                <a:ea typeface="Georgia" pitchFamily="34" charset="-122"/>
                <a:cs typeface="Georgia" pitchFamily="34" charset="-120"/>
              </a:defRPr>
            </a:lvl1pPr>
          </a:lstStyle>
          <a:p>
            <a:pPr algn="l" indent="0" marL="0">
              <a:buNone/>
            </a:pPr>
            <a:endParaRPr lang="en-US" sz="3200" dirty="0"/>
          </a:p>
        </p:txBody>
      </p:sp>
      <p:pic>
        <p:nvPicPr>
          <p:cNvPr id="3" name="Image 0" descr="C:\Prabhav\Hacknex26\presentation\assets\hnx_mark.png">    </p:cNvPr>
          <p:cNvPicPr>
            <a:picLocks noChangeAspect="1"/>
          </p:cNvPicPr>
          <p:nvPr/>
        </p:nvPicPr>
        <p:blipFill>
          <a:blip r:embed="rId1"/>
          <a:stretch>
            <a:fillRect/>
          </a:stretch>
        </p:blipFill>
        <p:spPr>
          <a:xfrm>
            <a:off x="548640" y="6382512"/>
            <a:ext cx="237744" cy="237744"/>
          </a:xfrm>
          <a:prstGeom prst="rect">
            <a:avLst/>
          </a:prstGeom>
        </p:spPr>
      </p:pic>
      <p:sp>
        <p:nvSpPr>
          <p:cNvPr id="4" name="Text 0"/>
          <p:cNvSpPr/>
          <p:nvPr/>
        </p:nvSpPr>
        <p:spPr>
          <a:xfrm>
            <a:off x="877824" y="6373368"/>
            <a:ext cx="8229600" cy="256032"/>
          </a:xfrm>
          <a:prstGeom prst="rect">
            <a:avLst/>
          </a:prstGeom>
          <a:noFill/>
          <a:ln/>
        </p:spPr>
        <p:txBody>
          <a:bodyPr wrap="square" lIns="0" tIns="0" rIns="0" bIns="0" rtlCol="0" anchor="ctr"/>
          <a:lstStyle/>
          <a:p>
            <a:pPr indent="0" marL="0">
              <a:buNone/>
            </a:pPr>
            <a:r>
              <a:rPr lang="en-US" sz="900" dirty="0">
                <a:solidFill>
                  <a:schemeClr val="bg2"/>
                </a:solidFill>
              </a:rPr>
              <a:t>HNX Legal Intelligence   ·   HNX26EPS01 Agentic Legal Assistant   ·   Team No Sleep Till Deploy</a:t>
            </a:r>
            <a:endParaRPr lang="en-US" sz="9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NX_COVER">
    <p:bg>
      <p:bgPr>
        <a:solidFill>
          <a:srgbClr val="080C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6583680" cy="1828800"/>
          </a:xfrm>
          <a:prstGeom prst="rect">
            <a:avLst/>
          </a:prstGeom>
          <a:noFill/>
          <a:ln/>
        </p:spPr>
        <p:txBody>
          <a:bodyPr wrap="square" rtlCol="0"/>
          <a:lstStyle>
            <a:lvl1pPr algn="l" indent="0" marL="0">
              <a:buNone/>
              <a:defRPr lang="en-US" sz="5000" dirty="0">
                <a:solidFill>
                  <a:schemeClr val="bg1"/>
                </a:solidFill>
                <a:latin typeface="Georgia" pitchFamily="34" charset="0"/>
                <a:ea typeface="Georgia" pitchFamily="34" charset="-122"/>
                <a:cs typeface="Georgia" pitchFamily="34" charset="-120"/>
              </a:defRPr>
            </a:lvl1pPr>
          </a:lstStyle>
          <a:p>
            <a:pPr algn="l" indent="0" marL="0">
              <a:buNone/>
            </a:pPr>
            <a:endParaRPr lang="en-US" sz="5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NX_CLOSING">
    <p:bg>
      <p:bgPr>
        <a:solidFill>
          <a:srgbClr val="080C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595360" cy="2103120"/>
          </a:xfrm>
          <a:prstGeom prst="rect">
            <a:avLst/>
          </a:prstGeom>
          <a:noFill/>
          <a:ln/>
        </p:spPr>
        <p:txBody>
          <a:bodyPr wrap="square" rtlCol="0"/>
          <a:lstStyle>
            <a:lvl1pPr algn="l" indent="0" marL="0">
              <a:buNone/>
              <a:defRPr lang="en-US" sz="4400" dirty="0">
                <a:solidFill>
                  <a:schemeClr val="bg1"/>
                </a:solidFill>
                <a:latin typeface="Georgia" pitchFamily="34" charset="0"/>
                <a:ea typeface="Georgia" pitchFamily="34" charset="-122"/>
                <a:cs typeface="Georgia" pitchFamily="34" charset="-120"/>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NX mark" descr="C:\Prabhav\Hacknex26\presentation\assets\hnx_mark.png">    </p:cNvPr>
          <p:cNvPicPr>
            <a:picLocks noChangeAspect="1"/>
          </p:cNvPicPr>
          <p:nvPr/>
        </p:nvPicPr>
        <p:blipFill>
          <a:blip r:embed="rId1"/>
          <a:stretch>
            <a:fillRect/>
          </a:stretch>
        </p:blipFill>
        <p:spPr>
          <a:xfrm>
            <a:off x="548640" y="502920"/>
            <a:ext cx="502920" cy="502920"/>
          </a:xfrm>
          <a:prstGeom prst="rect">
            <a:avLst/>
          </a:prstGeom>
        </p:spPr>
      </p:pic>
      <p:sp>
        <p:nvSpPr>
          <p:cNvPr id="3" name="Text 0"/>
          <p:cNvSpPr txBox="1"/>
          <p:nvPr/>
        </p:nvSpPr>
        <p:spPr>
          <a:xfrm>
            <a:off x="1188720" y="502920"/>
            <a:ext cx="4572000" cy="502920"/>
          </a:xfrm>
          <a:prstGeom prst="rect">
            <a:avLst/>
          </a:prstGeom>
          <a:noFill/>
          <a:ln/>
        </p:spPr>
        <p:txBody>
          <a:bodyPr wrap="square" lIns="0" tIns="0" rIns="0" bIns="0" rtlCol="0" anchor="ctr"/>
          <a:lstStyle/>
          <a:p>
            <a:pPr indent="0" marL="0">
              <a:buNone/>
            </a:pPr>
            <a:r>
              <a:rPr lang="en-US" sz="1700" dirty="0">
                <a:solidFill>
                  <a:srgbClr val="F4F0E8"/>
                </a:solidFill>
                <a:latin typeface="Georgia" pitchFamily="34" charset="0"/>
                <a:ea typeface="Georgia" pitchFamily="34" charset="-122"/>
                <a:cs typeface="Georgia" pitchFamily="34" charset="-120"/>
              </a:rPr>
              <a:t>HNX Legal Intelligence</a:t>
            </a:r>
            <a:endParaRPr lang="en-US" sz="1700" dirty="0"/>
          </a:p>
          <a:p>
            <a:pPr indent="0" marL="0">
              <a:buNone/>
            </a:pPr>
            <a:r>
              <a:rPr lang="en-US" sz="900" spc="250" kern="0" dirty="0">
                <a:solidFill>
                  <a:srgbClr val="C5A059"/>
                </a:solidFill>
              </a:rPr>
              <a:t>EVIDENCE-GROUNDED CONTRACT ANALYSIS</a:t>
            </a:r>
            <a:endParaRPr lang="en-US" sz="1700" dirty="0"/>
          </a:p>
        </p:txBody>
      </p:sp>
      <p:sp>
        <p:nvSpPr>
          <p:cNvPr id="4" name="Text 1"/>
          <p:cNvSpPr txBox="1"/>
          <p:nvPr/>
        </p:nvSpPr>
        <p:spPr>
          <a:xfrm>
            <a:off x="548640" y="1371600"/>
            <a:ext cx="6583680" cy="274320"/>
          </a:xfrm>
          <a:prstGeom prst="rect">
            <a:avLst/>
          </a:prstGeom>
          <a:noFill/>
          <a:ln/>
        </p:spPr>
        <p:txBody>
          <a:bodyPr wrap="square" lIns="0" tIns="0" rIns="0" bIns="0" rtlCol="0" anchor="ctr"/>
          <a:lstStyle/>
          <a:p>
            <a:pPr indent="0" marL="0">
              <a:buNone/>
            </a:pPr>
            <a:r>
              <a:rPr lang="en-US" sz="1150" b="1" spc="250" kern="0" dirty="0">
                <a:solidFill>
                  <a:schemeClr val="accent1"/>
                </a:solidFill>
              </a:rPr>
              <a:t>HACKNEX 2026   ·   HNX26EPS01 — AGENTIC LEGAL ASSISTANT</a:t>
            </a:r>
            <a:endParaRPr lang="en-US" sz="1150" dirty="0"/>
          </a:p>
        </p:txBody>
      </p:sp>
      <p:sp>
        <p:nvSpPr>
          <p:cNvPr id="5" name="Text 0"/>
          <p:cNvSpPr/>
          <p:nvPr>
            <p:ph idx="100" type="title" hasCustomPrompt="1"/>
          </p:nvPr>
        </p:nvSpPr>
        <p:spPr>
          <a:xfrm>
            <a:off x="548640" y="1783080"/>
            <a:ext cx="6583680" cy="1828800"/>
          </a:xfrm>
          <a:prstGeom prst="rect">
            <a:avLst/>
          </a:prstGeom>
          <a:noFill/>
          <a:ln/>
        </p:spPr>
        <p:txBody>
          <a:bodyPr wrap="square" lIns="0" tIns="0" rIns="0" bIns="0" rtlCol="0" anchor="t"/>
          <a:lstStyle/>
          <a:p>
            <a:pPr algn="l" indent="0" marL="0">
              <a:buNone/>
            </a:pPr>
            <a:r>
              <a:rPr lang="en-US" sz="5000" dirty="0">
                <a:solidFill>
                  <a:schemeClr val="bg1"/>
                </a:solidFill>
                <a:latin typeface="Georgia" pitchFamily="34" charset="0"/>
                <a:ea typeface="Georgia" pitchFamily="34" charset="-122"/>
                <a:cs typeface="Georgia" pitchFamily="34" charset="-120"/>
              </a:rPr>
              <a:t>Legal AI must prove what it says</a:t>
            </a:r>
            <a:endParaRPr lang="en-US" sz="5000" dirty="0"/>
          </a:p>
        </p:txBody>
      </p:sp>
      <p:sp>
        <p:nvSpPr>
          <p:cNvPr id="6" name="Text 3"/>
          <p:cNvSpPr txBox="1"/>
          <p:nvPr/>
        </p:nvSpPr>
        <p:spPr>
          <a:xfrm>
            <a:off x="548640" y="3703320"/>
            <a:ext cx="6126480" cy="777240"/>
          </a:xfrm>
          <a:prstGeom prst="rect">
            <a:avLst/>
          </a:prstGeom>
          <a:noFill/>
          <a:ln/>
        </p:spPr>
        <p:txBody>
          <a:bodyPr wrap="square" lIns="0" tIns="0" rIns="0" bIns="0" rtlCol="0" anchor="t"/>
          <a:lstStyle/>
          <a:p>
            <a:pPr indent="0" marL="0">
              <a:buNone/>
            </a:pPr>
            <a:r>
              <a:rPr lang="en-US" sz="2000" dirty="0">
                <a:solidFill>
                  <a:schemeClr val="bg2"/>
                </a:solidFill>
              </a:rPr>
              <a:t>HNX Legal Intelligence — evidence-grounded analysis for complex commercial contracts</a:t>
            </a:r>
            <a:endParaRPr lang="en-US" sz="2000" dirty="0"/>
          </a:p>
        </p:txBody>
      </p:sp>
      <p:sp>
        <p:nvSpPr>
          <p:cNvPr id="7" name="Text 4"/>
          <p:cNvSpPr txBox="1"/>
          <p:nvPr/>
        </p:nvSpPr>
        <p:spPr>
          <a:xfrm>
            <a:off x="548640" y="4617720"/>
            <a:ext cx="6400800" cy="411480"/>
          </a:xfrm>
          <a:prstGeom prst="rect">
            <a:avLst/>
          </a:prstGeom>
          <a:noFill/>
          <a:ln/>
        </p:spPr>
        <p:txBody>
          <a:bodyPr wrap="square" lIns="0" tIns="0" rIns="0" bIns="0" rtlCol="0" anchor="ctr"/>
          <a:lstStyle/>
          <a:p>
            <a:pPr indent="0" marL="0">
              <a:buNone/>
            </a:pPr>
            <a:r>
              <a:rPr lang="en-US" sz="1700" i="1" dirty="0">
                <a:solidFill>
                  <a:schemeClr val="accent1"/>
                </a:solidFill>
                <a:latin typeface="Georgia" pitchFamily="34" charset="0"/>
                <a:ea typeface="Georgia" pitchFamily="34" charset="-122"/>
                <a:cs typeface="Georgia" pitchFamily="34" charset="-120"/>
              </a:rPr>
              <a:t>A fluent answer is not the same as a reliable legal answer.</a:t>
            </a:r>
            <a:endParaRPr lang="en-US" sz="1700" dirty="0"/>
          </a:p>
        </p:txBody>
      </p:sp>
      <p:sp>
        <p:nvSpPr>
          <p:cNvPr id="8" name="Text 5"/>
          <p:cNvSpPr txBox="1"/>
          <p:nvPr/>
        </p:nvSpPr>
        <p:spPr>
          <a:xfrm>
            <a:off x="548640" y="5989320"/>
            <a:ext cx="10058400" cy="274320"/>
          </a:xfrm>
          <a:prstGeom prst="rect">
            <a:avLst/>
          </a:prstGeom>
          <a:noFill/>
          <a:ln/>
        </p:spPr>
        <p:txBody>
          <a:bodyPr wrap="square" lIns="0" tIns="0" rIns="0" bIns="0" rtlCol="0" anchor="ctr"/>
          <a:lstStyle/>
          <a:p>
            <a:pPr indent="0" marL="0">
              <a:buNone/>
            </a:pPr>
            <a:r>
              <a:rPr lang="en-US" sz="1100" dirty="0">
                <a:solidFill>
                  <a:schemeClr val="bg2"/>
                </a:solidFill>
              </a:rPr>
              <a:t>Team No Sleep Till Deploy   ·   Karunya Institute of Technology and Sciences, Coimbatore   ·   Theme: AI &amp; Emerging Technologies</a:t>
            </a:r>
            <a:endParaRPr lang="en-US" sz="1100" dirty="0"/>
          </a:p>
        </p:txBody>
      </p:sp>
      <p:sp>
        <p:nvSpPr>
          <p:cNvPr id="9" name="Sheet back"/>
          <p:cNvSpPr/>
          <p:nvPr/>
        </p:nvSpPr>
        <p:spPr>
          <a:xfrm rot="420000">
            <a:off x="8183880" y="868680"/>
            <a:ext cx="3154680" cy="4160520"/>
          </a:xfrm>
          <a:prstGeom prst="roundRect">
            <a:avLst>
              <a:gd name="adj" fmla="val 1739"/>
            </a:avLst>
          </a:prstGeom>
          <a:solidFill>
            <a:srgbClr val="B9B2A3"/>
          </a:solidFill>
          <a:ln w="9525">
            <a:solidFill>
              <a:srgbClr val="D8D0BF"/>
            </a:solidFill>
            <a:prstDash val="solid"/>
          </a:ln>
          <a:effectLst>
            <a:outerShdw sx="100000" sy="100000" kx="0" ky="0" algn="bl" rotWithShape="0" blurRad="152400" dist="50800" dir="5400000">
              <a:srgbClr val="000000">
                <a:alpha val="45000"/>
              </a:srgbClr>
            </a:outerShdw>
          </a:effectLst>
        </p:spPr>
      </p:sp>
      <p:sp>
        <p:nvSpPr>
          <p:cNvPr id="10" name="Sheet middle"/>
          <p:cNvSpPr/>
          <p:nvPr/>
        </p:nvSpPr>
        <p:spPr>
          <a:xfrm rot="-240000">
            <a:off x="7818120" y="960120"/>
            <a:ext cx="3154680" cy="4160520"/>
          </a:xfrm>
          <a:prstGeom prst="roundRect">
            <a:avLst>
              <a:gd name="adj" fmla="val 1739"/>
            </a:avLst>
          </a:prstGeom>
          <a:solidFill>
            <a:srgbClr val="D7D0C2"/>
          </a:solidFill>
          <a:ln w="9525">
            <a:solidFill>
              <a:srgbClr val="D8D0BF"/>
            </a:solidFill>
            <a:prstDash val="solid"/>
          </a:ln>
          <a:effectLst>
            <a:outerShdw sx="100000" sy="100000" kx="0" ky="0" algn="bl" rotWithShape="0" blurRad="152400" dist="50800" dir="5400000">
              <a:srgbClr val="000000">
                <a:alpha val="45000"/>
              </a:srgbClr>
            </a:outerShdw>
          </a:effectLst>
        </p:spPr>
      </p:sp>
      <p:sp>
        <p:nvSpPr>
          <p:cNvPr id="11" name="Sheet front"/>
          <p:cNvSpPr/>
          <p:nvPr/>
        </p:nvSpPr>
        <p:spPr>
          <a:xfrm>
            <a:off x="7498080" y="1097280"/>
            <a:ext cx="3291840" cy="4343400"/>
          </a:xfrm>
          <a:prstGeom prst="roundRect">
            <a:avLst>
              <a:gd name="adj" fmla="val 1667"/>
            </a:avLst>
          </a:prstGeom>
          <a:solidFill>
            <a:srgbClr val="F4F0E8"/>
          </a:solidFill>
          <a:ln w="9525">
            <a:solidFill>
              <a:srgbClr val="D8D0BF"/>
            </a:solidFill>
            <a:prstDash val="solid"/>
          </a:ln>
          <a:effectLst>
            <a:outerShdw sx="100000" sy="100000" kx="0" ky="0" algn="bl" rotWithShape="0" blurRad="152400" dist="50800" dir="5400000">
              <a:srgbClr val="000000">
                <a:alpha val="45000"/>
              </a:srgbClr>
            </a:outerShdw>
          </a:effectLst>
        </p:spPr>
      </p:sp>
      <p:sp>
        <p:nvSpPr>
          <p:cNvPr id="12" name="Text 9"/>
          <p:cNvSpPr txBox="1"/>
          <p:nvPr/>
        </p:nvSpPr>
        <p:spPr>
          <a:xfrm>
            <a:off x="7772400" y="1298448"/>
            <a:ext cx="2743200" cy="228600"/>
          </a:xfrm>
          <a:prstGeom prst="rect">
            <a:avLst/>
          </a:prstGeom>
          <a:noFill/>
          <a:ln/>
        </p:spPr>
        <p:txBody>
          <a:bodyPr wrap="square" lIns="0" tIns="0" rIns="0" bIns="0" rtlCol="0" anchor="ctr"/>
          <a:lstStyle/>
          <a:p>
            <a:pPr indent="0" marL="0">
              <a:buNone/>
            </a:pPr>
            <a:r>
              <a:rPr lang="en-US" sz="900" dirty="0">
                <a:solidFill>
                  <a:srgbClr val="4A5468"/>
                </a:solidFill>
                <a:latin typeface="Consolas" pitchFamily="34" charset="0"/>
                <a:ea typeface="Consolas" pitchFamily="34" charset="-122"/>
                <a:cs typeface="Consolas" pitchFamily="34" charset="-120"/>
              </a:rPr>
              <a:t>UNSEEN-LOGISTICS-001</a:t>
            </a:r>
            <a:endParaRPr lang="en-US" sz="900" dirty="0"/>
          </a:p>
        </p:txBody>
      </p:sp>
      <p:sp>
        <p:nvSpPr>
          <p:cNvPr id="13" name="Text 10"/>
          <p:cNvSpPr txBox="1"/>
          <p:nvPr/>
        </p:nvSpPr>
        <p:spPr>
          <a:xfrm>
            <a:off x="7772400" y="1554480"/>
            <a:ext cx="2834640" cy="292608"/>
          </a:xfrm>
          <a:prstGeom prst="rect">
            <a:avLst/>
          </a:prstGeom>
          <a:noFill/>
          <a:ln/>
        </p:spPr>
        <p:txBody>
          <a:bodyPr wrap="square" lIns="0" tIns="0" rIns="0" bIns="0" rtlCol="0" anchor="ctr"/>
          <a:lstStyle/>
          <a:p>
            <a:pPr indent="0" marL="0">
              <a:buNone/>
            </a:pPr>
            <a:r>
              <a:rPr lang="en-US" sz="1300" dirty="0">
                <a:solidFill>
                  <a:srgbClr val="1A2232"/>
                </a:solidFill>
                <a:latin typeface="Georgia" pitchFamily="34" charset="0"/>
                <a:ea typeface="Georgia" pitchFamily="34" charset="-122"/>
                <a:cs typeface="Georgia" pitchFamily="34" charset="-120"/>
              </a:rPr>
              <a:t>§ 2.3  Temperature Guarantee</a:t>
            </a:r>
            <a:endParaRPr lang="en-US" sz="1300" dirty="0"/>
          </a:p>
        </p:txBody>
      </p:sp>
      <p:sp>
        <p:nvSpPr>
          <p:cNvPr id="14" name="Clause line"/>
          <p:cNvSpPr/>
          <p:nvPr/>
        </p:nvSpPr>
        <p:spPr>
          <a:xfrm>
            <a:off x="7772400" y="2011680"/>
            <a:ext cx="2743200" cy="64008"/>
          </a:xfrm>
          <a:prstGeom prst="rect">
            <a:avLst/>
          </a:prstGeom>
          <a:solidFill>
            <a:srgbClr val="CFC7B6"/>
          </a:solidFill>
          <a:ln/>
        </p:spPr>
      </p:sp>
      <p:sp>
        <p:nvSpPr>
          <p:cNvPr id="15" name="Clause line"/>
          <p:cNvSpPr/>
          <p:nvPr/>
        </p:nvSpPr>
        <p:spPr>
          <a:xfrm>
            <a:off x="7772400" y="2212848"/>
            <a:ext cx="2468880" cy="64008"/>
          </a:xfrm>
          <a:prstGeom prst="rect">
            <a:avLst/>
          </a:prstGeom>
          <a:solidFill>
            <a:srgbClr val="CFC7B6"/>
          </a:solidFill>
          <a:ln/>
        </p:spPr>
      </p:sp>
      <p:sp>
        <p:nvSpPr>
          <p:cNvPr id="16" name="Clause line"/>
          <p:cNvSpPr/>
          <p:nvPr/>
        </p:nvSpPr>
        <p:spPr>
          <a:xfrm>
            <a:off x="7772400" y="2414016"/>
            <a:ext cx="2697480" cy="64008"/>
          </a:xfrm>
          <a:prstGeom prst="rect">
            <a:avLst/>
          </a:prstGeom>
          <a:solidFill>
            <a:srgbClr val="CFC7B6"/>
          </a:solidFill>
          <a:ln/>
        </p:spPr>
      </p:sp>
      <p:sp>
        <p:nvSpPr>
          <p:cNvPr id="17" name="Clause line"/>
          <p:cNvSpPr/>
          <p:nvPr/>
        </p:nvSpPr>
        <p:spPr>
          <a:xfrm>
            <a:off x="7772400" y="2615184"/>
            <a:ext cx="1737360" cy="64008"/>
          </a:xfrm>
          <a:prstGeom prst="rect">
            <a:avLst/>
          </a:prstGeom>
          <a:solidFill>
            <a:srgbClr val="CFC7B6"/>
          </a:solidFill>
          <a:ln/>
        </p:spPr>
      </p:sp>
      <p:sp>
        <p:nvSpPr>
          <p:cNvPr id="18" name="Highlighted span"/>
          <p:cNvSpPr/>
          <p:nvPr/>
        </p:nvSpPr>
        <p:spPr>
          <a:xfrm>
            <a:off x="7699248" y="2862072"/>
            <a:ext cx="2907792" cy="841248"/>
          </a:xfrm>
          <a:prstGeom prst="rect">
            <a:avLst/>
          </a:prstGeom>
          <a:solidFill>
            <a:srgbClr val="C5A059">
              <a:alpha val="28000"/>
            </a:srgbClr>
          </a:solidFill>
          <a:ln w="12700">
            <a:solidFill>
              <a:srgbClr val="C5A059"/>
            </a:solidFill>
            <a:prstDash val="solid"/>
          </a:ln>
        </p:spPr>
      </p:sp>
      <p:sp>
        <p:nvSpPr>
          <p:cNvPr id="19" name="Text 16"/>
          <p:cNvSpPr txBox="1"/>
          <p:nvPr/>
        </p:nvSpPr>
        <p:spPr>
          <a:xfrm>
            <a:off x="7790688" y="2889504"/>
            <a:ext cx="2743200" cy="786384"/>
          </a:xfrm>
          <a:prstGeom prst="rect">
            <a:avLst/>
          </a:prstGeom>
          <a:noFill/>
          <a:ln/>
        </p:spPr>
        <p:txBody>
          <a:bodyPr wrap="square" lIns="0" tIns="0" rIns="0" bIns="0" rtlCol="0" anchor="ctr"/>
          <a:lstStyle/>
          <a:p>
            <a:pPr indent="0" marL="0">
              <a:buNone/>
            </a:pPr>
            <a:r>
              <a:rPr lang="en-US" sz="1050" i="1" dirty="0">
                <a:solidFill>
                  <a:srgbClr val="1A2232"/>
                </a:solidFill>
              </a:rPr>
              <a:t>“…shall remain strictly liable for consignment spoilage exceeding four (4) hours… regardless of customs detention.”</a:t>
            </a:r>
            <a:endParaRPr lang="en-US" sz="1050" dirty="0"/>
          </a:p>
        </p:txBody>
      </p:sp>
      <p:sp>
        <p:nvSpPr>
          <p:cNvPr id="20" name="Clause line"/>
          <p:cNvSpPr/>
          <p:nvPr/>
        </p:nvSpPr>
        <p:spPr>
          <a:xfrm>
            <a:off x="7772400" y="3886200"/>
            <a:ext cx="2514600" cy="64008"/>
          </a:xfrm>
          <a:prstGeom prst="rect">
            <a:avLst/>
          </a:prstGeom>
          <a:solidFill>
            <a:srgbClr val="CFC7B6"/>
          </a:solidFill>
          <a:ln/>
        </p:spPr>
      </p:sp>
      <p:sp>
        <p:nvSpPr>
          <p:cNvPr id="21" name="Clause line"/>
          <p:cNvSpPr/>
          <p:nvPr/>
        </p:nvSpPr>
        <p:spPr>
          <a:xfrm>
            <a:off x="7772400" y="4087368"/>
            <a:ext cx="2743200" cy="64008"/>
          </a:xfrm>
          <a:prstGeom prst="rect">
            <a:avLst/>
          </a:prstGeom>
          <a:solidFill>
            <a:srgbClr val="CFC7B6"/>
          </a:solidFill>
          <a:ln/>
        </p:spPr>
      </p:sp>
      <p:sp>
        <p:nvSpPr>
          <p:cNvPr id="22" name="Clause line"/>
          <p:cNvSpPr/>
          <p:nvPr/>
        </p:nvSpPr>
        <p:spPr>
          <a:xfrm>
            <a:off x="7772400" y="4288536"/>
            <a:ext cx="2194560" cy="64008"/>
          </a:xfrm>
          <a:prstGeom prst="rect">
            <a:avLst/>
          </a:prstGeom>
          <a:solidFill>
            <a:srgbClr val="CFC7B6"/>
          </a:solidFill>
          <a:ln/>
        </p:spPr>
      </p:sp>
      <p:sp>
        <p:nvSpPr>
          <p:cNvPr id="23" name="Clause line"/>
          <p:cNvSpPr/>
          <p:nvPr/>
        </p:nvSpPr>
        <p:spPr>
          <a:xfrm>
            <a:off x="7772400" y="4489704"/>
            <a:ext cx="2606040" cy="64008"/>
          </a:xfrm>
          <a:prstGeom prst="rect">
            <a:avLst/>
          </a:prstGeom>
          <a:solidFill>
            <a:srgbClr val="CFC7B6"/>
          </a:solidFill>
          <a:ln/>
        </p:spPr>
      </p:sp>
      <p:sp>
        <p:nvSpPr>
          <p:cNvPr id="24" name="Clause line"/>
          <p:cNvSpPr/>
          <p:nvPr/>
        </p:nvSpPr>
        <p:spPr>
          <a:xfrm>
            <a:off x="7772400" y="4690872"/>
            <a:ext cx="1463040" cy="64008"/>
          </a:xfrm>
          <a:prstGeom prst="rect">
            <a:avLst/>
          </a:prstGeom>
          <a:solidFill>
            <a:srgbClr val="CFC7B6"/>
          </a:solidFill>
          <a:ln/>
        </p:spPr>
      </p:sp>
      <p:sp>
        <p:nvSpPr>
          <p:cNvPr id="25" name="Trace line"/>
          <p:cNvSpPr/>
          <p:nvPr/>
        </p:nvSpPr>
        <p:spPr>
          <a:xfrm>
            <a:off x="10607040" y="3291840"/>
            <a:ext cx="502920" cy="1417320"/>
          </a:xfrm>
          <a:prstGeom prst="line">
            <a:avLst/>
          </a:prstGeom>
          <a:noFill/>
          <a:ln w="15875">
            <a:solidFill>
              <a:srgbClr val="C5A059"/>
            </a:solidFill>
            <a:prstDash val="solid"/>
            <a:tailEnd type="oval"/>
          </a:ln>
        </p:spPr>
      </p:sp>
      <p:sp>
        <p:nvSpPr>
          <p:cNvPr id="26" name="Citation card"/>
          <p:cNvSpPr/>
          <p:nvPr/>
        </p:nvSpPr>
        <p:spPr>
          <a:xfrm>
            <a:off x="9464040" y="4709160"/>
            <a:ext cx="2331720" cy="1051560"/>
          </a:xfrm>
          <a:prstGeom prst="roundRect">
            <a:avLst>
              <a:gd name="adj" fmla="val 6957"/>
            </a:avLst>
          </a:prstGeom>
          <a:solidFill>
            <a:srgbClr val="101827"/>
          </a:solidFill>
          <a:ln w="12700">
            <a:solidFill>
              <a:srgbClr val="C5A059"/>
            </a:solidFill>
            <a:prstDash val="solid"/>
          </a:ln>
          <a:effectLst>
            <a:outerShdw sx="100000" sy="100000" kx="0" ky="0" algn="bl" rotWithShape="0" blurRad="101600" dist="38100" dir="5400000">
              <a:srgbClr val="000000">
                <a:alpha val="35000"/>
              </a:srgbClr>
            </a:outerShdw>
          </a:effectLst>
        </p:spPr>
      </p:sp>
      <p:sp>
        <p:nvSpPr>
          <p:cNvPr id="27" name="Text 24"/>
          <p:cNvSpPr txBox="1"/>
          <p:nvPr/>
        </p:nvSpPr>
        <p:spPr>
          <a:xfrm>
            <a:off x="9601200" y="4800600"/>
            <a:ext cx="2103120" cy="228600"/>
          </a:xfrm>
          <a:prstGeom prst="rect">
            <a:avLst/>
          </a:prstGeom>
          <a:noFill/>
          <a:ln/>
        </p:spPr>
        <p:txBody>
          <a:bodyPr wrap="square" lIns="0" tIns="0" rIns="0" bIns="0" rtlCol="0" anchor="ctr"/>
          <a:lstStyle/>
          <a:p>
            <a:pPr indent="0" marL="0">
              <a:buNone/>
            </a:pPr>
            <a:r>
              <a:rPr lang="en-US" sz="900" b="1" spc="150" kern="0" dirty="0">
                <a:solidFill>
                  <a:srgbClr val="C5A059"/>
                </a:solidFill>
              </a:rPr>
              <a:t>VERBATIM QUOTE · CHECKED</a:t>
            </a:r>
            <a:endParaRPr lang="en-US" sz="900" dirty="0"/>
          </a:p>
        </p:txBody>
      </p:sp>
      <p:sp>
        <p:nvSpPr>
          <p:cNvPr id="28" name="Text 25"/>
          <p:cNvSpPr txBox="1"/>
          <p:nvPr/>
        </p:nvSpPr>
        <p:spPr>
          <a:xfrm>
            <a:off x="9601200" y="5029200"/>
            <a:ext cx="2148840" cy="228600"/>
          </a:xfrm>
          <a:prstGeom prst="rect">
            <a:avLst/>
          </a:prstGeom>
          <a:noFill/>
          <a:ln/>
        </p:spPr>
        <p:txBody>
          <a:bodyPr wrap="square" lIns="0" tIns="0" rIns="0" bIns="0" rtlCol="0" anchor="ctr"/>
          <a:lstStyle/>
          <a:p>
            <a:pPr indent="0" marL="0">
              <a:buNone/>
            </a:pPr>
            <a:r>
              <a:rPr lang="en-US" sz="950" dirty="0">
                <a:solidFill>
                  <a:srgbClr val="F4F0E8"/>
                </a:solidFill>
                <a:latin typeface="Consolas" pitchFamily="34" charset="0"/>
                <a:ea typeface="Consolas" pitchFamily="34" charset="-122"/>
                <a:cs typeface="Consolas" pitchFamily="34" charset="-120"/>
              </a:rPr>
              <a:t>UNSEEN-LOGISTICS-001#c004</a:t>
            </a:r>
            <a:endParaRPr lang="en-US" sz="950" dirty="0"/>
          </a:p>
        </p:txBody>
      </p:sp>
      <p:sp>
        <p:nvSpPr>
          <p:cNvPr id="29" name="Chip SUPPORTED"/>
          <p:cNvSpPr/>
          <p:nvPr/>
        </p:nvSpPr>
        <p:spPr>
          <a:xfrm>
            <a:off x="9601200" y="5349240"/>
            <a:ext cx="1275588" cy="292608"/>
          </a:xfrm>
          <a:prstGeom prst="roundRect">
            <a:avLst>
              <a:gd name="adj" fmla="val 50000"/>
            </a:avLst>
          </a:prstGeom>
          <a:solidFill>
            <a:srgbClr val="4CB58A">
              <a:alpha val="18000"/>
            </a:srgbClr>
          </a:solidFill>
          <a:ln w="12700">
            <a:solidFill>
              <a:srgbClr val="4CB58A"/>
            </a:solidFill>
            <a:prstDash val="solid"/>
          </a:ln>
        </p:spPr>
      </p:sp>
      <p:sp>
        <p:nvSpPr>
          <p:cNvPr id="30" name="Text 27"/>
          <p:cNvSpPr txBox="1"/>
          <p:nvPr/>
        </p:nvSpPr>
        <p:spPr>
          <a:xfrm>
            <a:off x="9601200" y="5349240"/>
            <a:ext cx="1275588" cy="292608"/>
          </a:xfrm>
          <a:prstGeom prst="rect">
            <a:avLst/>
          </a:prstGeom>
          <a:noFill/>
          <a:ln/>
        </p:spPr>
        <p:txBody>
          <a:bodyPr wrap="square" lIns="0" tIns="0" rIns="0" bIns="0" rtlCol="0" anchor="ctr"/>
          <a:lstStyle/>
          <a:p>
            <a:pPr algn="ctr" indent="0" marL="0">
              <a:buNone/>
            </a:pPr>
            <a:r>
              <a:rPr lang="en-US" sz="1050" b="1" spc="100" kern="0" dirty="0">
                <a:solidFill>
                  <a:srgbClr val="2E8A64"/>
                </a:solidFill>
              </a:rPr>
              <a:t>SUPPORTED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THE PROBLEM</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A fluent answer is not a verifiable answer</a:t>
            </a:r>
            <a:endParaRPr lang="en-US" sz="3200" dirty="0"/>
          </a:p>
        </p:txBody>
      </p:sp>
      <p:sp>
        <p:nvSpPr>
          <p:cNvPr id="4" name="Text 2"/>
          <p:cNvSpPr txBox="1"/>
          <p:nvPr/>
        </p:nvSpPr>
        <p:spPr>
          <a:xfrm>
            <a:off x="548640" y="1645920"/>
            <a:ext cx="640080" cy="457200"/>
          </a:xfrm>
          <a:prstGeom prst="rect">
            <a:avLst/>
          </a:prstGeom>
          <a:noFill/>
          <a:ln/>
        </p:spPr>
        <p:txBody>
          <a:bodyPr wrap="square" lIns="0" tIns="0" rIns="0" bIns="0" rtlCol="0" anchor="ctr"/>
          <a:lstStyle/>
          <a:p>
            <a:pPr indent="0" marL="0">
              <a:buNone/>
            </a:pPr>
            <a:r>
              <a:rPr lang="en-US" sz="2400" dirty="0">
                <a:solidFill>
                  <a:schemeClr val="accent1"/>
                </a:solidFill>
                <a:latin typeface="Georgia" pitchFamily="34" charset="0"/>
                <a:ea typeface="Georgia" pitchFamily="34" charset="-122"/>
                <a:cs typeface="Georgia" pitchFamily="34" charset="-120"/>
              </a:rPr>
              <a:t>01</a:t>
            </a:r>
            <a:endParaRPr lang="en-US" sz="2400" dirty="0"/>
          </a:p>
        </p:txBody>
      </p:sp>
      <p:sp>
        <p:nvSpPr>
          <p:cNvPr id="5" name="Text 3"/>
          <p:cNvSpPr txBox="1"/>
          <p:nvPr/>
        </p:nvSpPr>
        <p:spPr>
          <a:xfrm>
            <a:off x="1280160" y="1664208"/>
            <a:ext cx="4480560" cy="329184"/>
          </a:xfrm>
          <a:prstGeom prst="rect">
            <a:avLst/>
          </a:prstGeom>
          <a:noFill/>
          <a:ln/>
        </p:spPr>
        <p:txBody>
          <a:bodyPr wrap="square" lIns="0" tIns="0" rIns="0" bIns="0" rtlCol="0" anchor="ctr"/>
          <a:lstStyle/>
          <a:p>
            <a:pPr indent="0" marL="0">
              <a:buNone/>
            </a:pPr>
            <a:r>
              <a:rPr lang="en-US" sz="1700" b="1" dirty="0">
                <a:solidFill>
                  <a:schemeClr val="bg1"/>
                </a:solidFill>
              </a:rPr>
              <a:t>Obligations are scattered</a:t>
            </a:r>
            <a:endParaRPr lang="en-US" sz="1700" dirty="0"/>
          </a:p>
        </p:txBody>
      </p:sp>
      <p:sp>
        <p:nvSpPr>
          <p:cNvPr id="6" name="Text 4"/>
          <p:cNvSpPr txBox="1"/>
          <p:nvPr/>
        </p:nvSpPr>
        <p:spPr>
          <a:xfrm>
            <a:off x="1280160" y="2011680"/>
            <a:ext cx="4480560" cy="502920"/>
          </a:xfrm>
          <a:prstGeom prst="rect">
            <a:avLst/>
          </a:prstGeom>
          <a:noFill/>
          <a:ln/>
        </p:spPr>
        <p:txBody>
          <a:bodyPr wrap="square" lIns="0" tIns="0" rIns="0" bIns="0" rtlCol="0" anchor="t"/>
          <a:lstStyle/>
          <a:p>
            <a:pPr indent="0" marL="0">
              <a:buNone/>
            </a:pPr>
            <a:r>
              <a:rPr lang="en-US" sz="1400" dirty="0">
                <a:solidFill>
                  <a:schemeClr val="bg2"/>
                </a:solidFill>
              </a:rPr>
              <a:t>Duties, carve-outs and schedules sit in different sections.</a:t>
            </a:r>
            <a:endParaRPr lang="en-US" sz="1400" dirty="0"/>
          </a:p>
        </p:txBody>
      </p:sp>
      <p:sp>
        <p:nvSpPr>
          <p:cNvPr id="7" name="Text 5"/>
          <p:cNvSpPr txBox="1"/>
          <p:nvPr/>
        </p:nvSpPr>
        <p:spPr>
          <a:xfrm>
            <a:off x="548640" y="2743200"/>
            <a:ext cx="640080" cy="457200"/>
          </a:xfrm>
          <a:prstGeom prst="rect">
            <a:avLst/>
          </a:prstGeom>
          <a:noFill/>
          <a:ln/>
        </p:spPr>
        <p:txBody>
          <a:bodyPr wrap="square" lIns="0" tIns="0" rIns="0" bIns="0" rtlCol="0" anchor="ctr"/>
          <a:lstStyle/>
          <a:p>
            <a:pPr indent="0" marL="0">
              <a:buNone/>
            </a:pPr>
            <a:r>
              <a:rPr lang="en-US" sz="2400" dirty="0">
                <a:solidFill>
                  <a:schemeClr val="accent1"/>
                </a:solidFill>
                <a:latin typeface="Georgia" pitchFamily="34" charset="0"/>
                <a:ea typeface="Georgia" pitchFamily="34" charset="-122"/>
                <a:cs typeface="Georgia" pitchFamily="34" charset="-120"/>
              </a:rPr>
              <a:t>02</a:t>
            </a:r>
            <a:endParaRPr lang="en-US" sz="2400" dirty="0"/>
          </a:p>
        </p:txBody>
      </p:sp>
      <p:sp>
        <p:nvSpPr>
          <p:cNvPr id="8" name="Text 6"/>
          <p:cNvSpPr txBox="1"/>
          <p:nvPr/>
        </p:nvSpPr>
        <p:spPr>
          <a:xfrm>
            <a:off x="1280160" y="2761488"/>
            <a:ext cx="4480560" cy="329184"/>
          </a:xfrm>
          <a:prstGeom prst="rect">
            <a:avLst/>
          </a:prstGeom>
          <a:noFill/>
          <a:ln/>
        </p:spPr>
        <p:txBody>
          <a:bodyPr wrap="square" lIns="0" tIns="0" rIns="0" bIns="0" rtlCol="0" anchor="ctr"/>
          <a:lstStyle/>
          <a:p>
            <a:pPr indent="0" marL="0">
              <a:buNone/>
            </a:pPr>
            <a:r>
              <a:rPr lang="en-US" sz="1700" b="1" dirty="0">
                <a:solidFill>
                  <a:schemeClr val="bg1"/>
                </a:solidFill>
              </a:rPr>
              <a:t>Exceptions change the answer</a:t>
            </a:r>
            <a:endParaRPr lang="en-US" sz="1700" dirty="0"/>
          </a:p>
        </p:txBody>
      </p:sp>
      <p:sp>
        <p:nvSpPr>
          <p:cNvPr id="9" name="Text 7"/>
          <p:cNvSpPr txBox="1"/>
          <p:nvPr/>
        </p:nvSpPr>
        <p:spPr>
          <a:xfrm>
            <a:off x="1280160" y="3108960"/>
            <a:ext cx="4480560" cy="502920"/>
          </a:xfrm>
          <a:prstGeom prst="rect">
            <a:avLst/>
          </a:prstGeom>
          <a:noFill/>
          <a:ln/>
        </p:spPr>
        <p:txBody>
          <a:bodyPr wrap="square" lIns="0" tIns="0" rIns="0" bIns="0" rtlCol="0" anchor="t"/>
          <a:lstStyle/>
          <a:p>
            <a:pPr indent="0" marL="0">
              <a:buNone/>
            </a:pPr>
            <a:r>
              <a:rPr lang="en-US" sz="1400" dirty="0">
                <a:solidFill>
                  <a:schemeClr val="bg2"/>
                </a:solidFill>
              </a:rPr>
              <a:t>“Subject to” and “notwithstanding” can reverse a general rule.</a:t>
            </a:r>
            <a:endParaRPr lang="en-US" sz="1400" dirty="0"/>
          </a:p>
        </p:txBody>
      </p:sp>
      <p:sp>
        <p:nvSpPr>
          <p:cNvPr id="10" name="Text 8"/>
          <p:cNvSpPr txBox="1"/>
          <p:nvPr/>
        </p:nvSpPr>
        <p:spPr>
          <a:xfrm>
            <a:off x="548640" y="3840480"/>
            <a:ext cx="640080" cy="457200"/>
          </a:xfrm>
          <a:prstGeom prst="rect">
            <a:avLst/>
          </a:prstGeom>
          <a:noFill/>
          <a:ln/>
        </p:spPr>
        <p:txBody>
          <a:bodyPr wrap="square" lIns="0" tIns="0" rIns="0" bIns="0" rtlCol="0" anchor="ctr"/>
          <a:lstStyle/>
          <a:p>
            <a:pPr indent="0" marL="0">
              <a:buNone/>
            </a:pPr>
            <a:r>
              <a:rPr lang="en-US" sz="2400" dirty="0">
                <a:solidFill>
                  <a:schemeClr val="accent1"/>
                </a:solidFill>
                <a:latin typeface="Georgia" pitchFamily="34" charset="0"/>
                <a:ea typeface="Georgia" pitchFamily="34" charset="-122"/>
                <a:cs typeface="Georgia" pitchFamily="34" charset="-120"/>
              </a:rPr>
              <a:t>03</a:t>
            </a:r>
            <a:endParaRPr lang="en-US" sz="2400" dirty="0"/>
          </a:p>
        </p:txBody>
      </p:sp>
      <p:sp>
        <p:nvSpPr>
          <p:cNvPr id="11" name="Text 9"/>
          <p:cNvSpPr txBox="1"/>
          <p:nvPr/>
        </p:nvSpPr>
        <p:spPr>
          <a:xfrm>
            <a:off x="1280160" y="3858768"/>
            <a:ext cx="4480560" cy="329184"/>
          </a:xfrm>
          <a:prstGeom prst="rect">
            <a:avLst/>
          </a:prstGeom>
          <a:noFill/>
          <a:ln/>
        </p:spPr>
        <p:txBody>
          <a:bodyPr wrap="square" lIns="0" tIns="0" rIns="0" bIns="0" rtlCol="0" anchor="ctr"/>
          <a:lstStyle/>
          <a:p>
            <a:pPr indent="0" marL="0">
              <a:buNone/>
            </a:pPr>
            <a:r>
              <a:rPr lang="en-US" sz="1700" b="1" dirty="0">
                <a:solidFill>
                  <a:schemeClr val="bg1"/>
                </a:solidFill>
              </a:rPr>
              <a:t>Fluency hides missing support</a:t>
            </a:r>
            <a:endParaRPr lang="en-US" sz="1700" dirty="0"/>
          </a:p>
        </p:txBody>
      </p:sp>
      <p:sp>
        <p:nvSpPr>
          <p:cNvPr id="12" name="Text 10"/>
          <p:cNvSpPr txBox="1"/>
          <p:nvPr/>
        </p:nvSpPr>
        <p:spPr>
          <a:xfrm>
            <a:off x="1280160" y="4206240"/>
            <a:ext cx="4480560" cy="502920"/>
          </a:xfrm>
          <a:prstGeom prst="rect">
            <a:avLst/>
          </a:prstGeom>
          <a:noFill/>
          <a:ln/>
        </p:spPr>
        <p:txBody>
          <a:bodyPr wrap="square" lIns="0" tIns="0" rIns="0" bIns="0" rtlCol="0" anchor="t"/>
          <a:lstStyle/>
          <a:p>
            <a:pPr indent="0" marL="0">
              <a:buNone/>
            </a:pPr>
            <a:r>
              <a:rPr lang="en-US" sz="1400" dirty="0">
                <a:solidFill>
                  <a:schemeClr val="bg2"/>
                </a:solidFill>
              </a:rPr>
              <a:t>A generic model can answer confidently with no source behind it.</a:t>
            </a:r>
            <a:endParaRPr lang="en-US" sz="1400" dirty="0"/>
          </a:p>
        </p:txBody>
      </p:sp>
      <p:sp>
        <p:nvSpPr>
          <p:cNvPr id="13" name="Text 11"/>
          <p:cNvSpPr txBox="1"/>
          <p:nvPr/>
        </p:nvSpPr>
        <p:spPr>
          <a:xfrm>
            <a:off x="548640" y="4937760"/>
            <a:ext cx="640080" cy="457200"/>
          </a:xfrm>
          <a:prstGeom prst="rect">
            <a:avLst/>
          </a:prstGeom>
          <a:noFill/>
          <a:ln/>
        </p:spPr>
        <p:txBody>
          <a:bodyPr wrap="square" lIns="0" tIns="0" rIns="0" bIns="0" rtlCol="0" anchor="ctr"/>
          <a:lstStyle/>
          <a:p>
            <a:pPr indent="0" marL="0">
              <a:buNone/>
            </a:pPr>
            <a:r>
              <a:rPr lang="en-US" sz="2400" dirty="0">
                <a:solidFill>
                  <a:schemeClr val="accent1"/>
                </a:solidFill>
                <a:latin typeface="Georgia" pitchFamily="34" charset="0"/>
                <a:ea typeface="Georgia" pitchFamily="34" charset="-122"/>
                <a:cs typeface="Georgia" pitchFamily="34" charset="-120"/>
              </a:rPr>
              <a:t>04</a:t>
            </a:r>
            <a:endParaRPr lang="en-US" sz="2400" dirty="0"/>
          </a:p>
        </p:txBody>
      </p:sp>
      <p:sp>
        <p:nvSpPr>
          <p:cNvPr id="14" name="Text 12"/>
          <p:cNvSpPr txBox="1"/>
          <p:nvPr/>
        </p:nvSpPr>
        <p:spPr>
          <a:xfrm>
            <a:off x="1280160" y="4956048"/>
            <a:ext cx="4480560" cy="329184"/>
          </a:xfrm>
          <a:prstGeom prst="rect">
            <a:avLst/>
          </a:prstGeom>
          <a:noFill/>
          <a:ln/>
        </p:spPr>
        <p:txBody>
          <a:bodyPr wrap="square" lIns="0" tIns="0" rIns="0" bIns="0" rtlCol="0" anchor="ctr"/>
          <a:lstStyle/>
          <a:p>
            <a:pPr indent="0" marL="0">
              <a:buNone/>
            </a:pPr>
            <a:r>
              <a:rPr lang="en-US" sz="1700" b="1" dirty="0">
                <a:solidFill>
                  <a:schemeClr val="bg1"/>
                </a:solidFill>
              </a:rPr>
              <a:t>Silence matters</a:t>
            </a:r>
            <a:endParaRPr lang="en-US" sz="1700" dirty="0"/>
          </a:p>
        </p:txBody>
      </p:sp>
      <p:sp>
        <p:nvSpPr>
          <p:cNvPr id="15" name="Text 13"/>
          <p:cNvSpPr txBox="1"/>
          <p:nvPr/>
        </p:nvSpPr>
        <p:spPr>
          <a:xfrm>
            <a:off x="1280160" y="5303520"/>
            <a:ext cx="4480560" cy="502920"/>
          </a:xfrm>
          <a:prstGeom prst="rect">
            <a:avLst/>
          </a:prstGeom>
          <a:noFill/>
          <a:ln/>
        </p:spPr>
        <p:txBody>
          <a:bodyPr wrap="square" lIns="0" tIns="0" rIns="0" bIns="0" rtlCol="0" anchor="t"/>
          <a:lstStyle/>
          <a:p>
            <a:pPr indent="0" marL="0">
              <a:buNone/>
            </a:pPr>
            <a:r>
              <a:rPr lang="en-US" sz="1400" dirty="0">
                <a:solidFill>
                  <a:schemeClr val="bg2"/>
                </a:solidFill>
              </a:rPr>
              <a:t>What the contract does not say is often the key finding.</a:t>
            </a:r>
            <a:endParaRPr lang="en-US" sz="1400" dirty="0"/>
          </a:p>
        </p:txBody>
      </p:sp>
      <p:sp>
        <p:nvSpPr>
          <p:cNvPr id="16" name="Fluent answer card"/>
          <p:cNvSpPr/>
          <p:nvPr/>
        </p:nvSpPr>
        <p:spPr>
          <a:xfrm>
            <a:off x="6172200" y="1645920"/>
            <a:ext cx="5468112" cy="1600200"/>
          </a:xfrm>
          <a:prstGeom prst="roundRect">
            <a:avLst>
              <a:gd name="adj" fmla="val 4571"/>
            </a:avLst>
          </a:prstGeom>
          <a:solidFill>
            <a:srgbClr val="202B3D"/>
          </a:solidFill>
          <a:ln w="9525">
            <a:solidFill>
              <a:srgbClr val="33405A"/>
            </a:solidFill>
            <a:prstDash val="solid"/>
          </a:ln>
        </p:spPr>
      </p:sp>
      <p:sp>
        <p:nvSpPr>
          <p:cNvPr id="17" name="Text 15"/>
          <p:cNvSpPr txBox="1"/>
          <p:nvPr/>
        </p:nvSpPr>
        <p:spPr>
          <a:xfrm>
            <a:off x="6446520" y="1783080"/>
            <a:ext cx="4937760" cy="256032"/>
          </a:xfrm>
          <a:prstGeom prst="rect">
            <a:avLst/>
          </a:prstGeom>
          <a:noFill/>
          <a:ln/>
        </p:spPr>
        <p:txBody>
          <a:bodyPr wrap="square" lIns="0" tIns="0" rIns="0" bIns="0" rtlCol="0" anchor="ctr"/>
          <a:lstStyle/>
          <a:p>
            <a:pPr indent="0" marL="0">
              <a:buNone/>
            </a:pPr>
            <a:r>
              <a:rPr lang="en-US" sz="1000" b="1" spc="200" kern="0" dirty="0">
                <a:solidFill>
                  <a:schemeClr val="bg2"/>
                </a:solidFill>
              </a:rPr>
              <a:t>FLUENT ANSWER  ·  ILLUSTRATIVE</a:t>
            </a:r>
            <a:endParaRPr lang="en-US" sz="1000" dirty="0"/>
          </a:p>
        </p:txBody>
      </p:sp>
      <p:sp>
        <p:nvSpPr>
          <p:cNvPr id="18" name="Text 16"/>
          <p:cNvSpPr txBox="1"/>
          <p:nvPr/>
        </p:nvSpPr>
        <p:spPr>
          <a:xfrm>
            <a:off x="6446520" y="2075688"/>
            <a:ext cx="5029200" cy="548640"/>
          </a:xfrm>
          <a:prstGeom prst="rect">
            <a:avLst/>
          </a:prstGeom>
          <a:noFill/>
          <a:ln/>
        </p:spPr>
        <p:txBody>
          <a:bodyPr wrap="square" lIns="0" tIns="0" rIns="0" bIns="0" rtlCol="0" anchor="ctr"/>
          <a:lstStyle/>
          <a:p>
            <a:pPr indent="0" marL="0">
              <a:buNone/>
            </a:pPr>
            <a:r>
              <a:rPr lang="en-US" sz="1700" dirty="0">
                <a:solidFill>
                  <a:schemeClr val="bg1"/>
                </a:solidFill>
                <a:latin typeface="Georgia" pitchFamily="34" charset="0"/>
                <a:ea typeface="Georgia" pitchFamily="34" charset="-122"/>
                <a:cs typeface="Georgia" pitchFamily="34" charset="-120"/>
              </a:rPr>
              <a:t>“The provider is not liable for delays caused by customs.”</a:t>
            </a:r>
            <a:endParaRPr lang="en-US" sz="1700" dirty="0"/>
          </a:p>
        </p:txBody>
      </p:sp>
      <p:sp>
        <p:nvSpPr>
          <p:cNvPr id="19" name="Chip NO SOURCE"/>
          <p:cNvSpPr/>
          <p:nvPr/>
        </p:nvSpPr>
        <p:spPr>
          <a:xfrm>
            <a:off x="6446520" y="2743200"/>
            <a:ext cx="1275588" cy="292608"/>
          </a:xfrm>
          <a:prstGeom prst="roundRect">
            <a:avLst>
              <a:gd name="adj" fmla="val 50000"/>
            </a:avLst>
          </a:prstGeom>
          <a:solidFill>
            <a:srgbClr val="D9654E">
              <a:alpha val="18000"/>
            </a:srgbClr>
          </a:solidFill>
          <a:ln w="12700">
            <a:solidFill>
              <a:srgbClr val="D9654E"/>
            </a:solidFill>
            <a:prstDash val="solid"/>
          </a:ln>
        </p:spPr>
      </p:sp>
      <p:sp>
        <p:nvSpPr>
          <p:cNvPr id="20" name="Text 18"/>
          <p:cNvSpPr txBox="1"/>
          <p:nvPr/>
        </p:nvSpPr>
        <p:spPr>
          <a:xfrm>
            <a:off x="6446520" y="2743200"/>
            <a:ext cx="1275588" cy="292608"/>
          </a:xfrm>
          <a:prstGeom prst="rect">
            <a:avLst/>
          </a:prstGeom>
          <a:noFill/>
          <a:ln/>
        </p:spPr>
        <p:txBody>
          <a:bodyPr wrap="square" lIns="0" tIns="0" rIns="0" bIns="0" rtlCol="0" anchor="ctr"/>
          <a:lstStyle/>
          <a:p>
            <a:pPr algn="ctr" indent="0" marL="0">
              <a:buNone/>
            </a:pPr>
            <a:r>
              <a:rPr lang="en-US" sz="1050" b="1" spc="100" kern="0" dirty="0">
                <a:solidFill>
                  <a:srgbClr val="D9654E"/>
                </a:solidFill>
              </a:rPr>
              <a:t>NO SOURCE</a:t>
            </a:r>
            <a:endParaRPr lang="en-US" sz="1050" dirty="0"/>
          </a:p>
        </p:txBody>
      </p:sp>
      <p:sp>
        <p:nvSpPr>
          <p:cNvPr id="21" name="Chip EXCEPTION MISSED"/>
          <p:cNvSpPr/>
          <p:nvPr/>
        </p:nvSpPr>
        <p:spPr>
          <a:xfrm>
            <a:off x="7859268" y="2743200"/>
            <a:ext cx="1947672" cy="292608"/>
          </a:xfrm>
          <a:prstGeom prst="roundRect">
            <a:avLst>
              <a:gd name="adj" fmla="val 50000"/>
            </a:avLst>
          </a:prstGeom>
          <a:solidFill>
            <a:srgbClr val="D9654E">
              <a:alpha val="18000"/>
            </a:srgbClr>
          </a:solidFill>
          <a:ln w="12700">
            <a:solidFill>
              <a:srgbClr val="D9654E"/>
            </a:solidFill>
            <a:prstDash val="solid"/>
          </a:ln>
        </p:spPr>
      </p:sp>
      <p:sp>
        <p:nvSpPr>
          <p:cNvPr id="22" name="Text 20"/>
          <p:cNvSpPr txBox="1"/>
          <p:nvPr/>
        </p:nvSpPr>
        <p:spPr>
          <a:xfrm>
            <a:off x="7859268" y="2743200"/>
            <a:ext cx="1947672" cy="292608"/>
          </a:xfrm>
          <a:prstGeom prst="rect">
            <a:avLst/>
          </a:prstGeom>
          <a:noFill/>
          <a:ln/>
        </p:spPr>
        <p:txBody>
          <a:bodyPr wrap="square" lIns="0" tIns="0" rIns="0" bIns="0" rtlCol="0" anchor="ctr"/>
          <a:lstStyle/>
          <a:p>
            <a:pPr algn="ctr" indent="0" marL="0">
              <a:buNone/>
            </a:pPr>
            <a:r>
              <a:rPr lang="en-US" sz="1050" b="1" spc="100" kern="0" dirty="0">
                <a:solidFill>
                  <a:srgbClr val="D9654E"/>
                </a:solidFill>
              </a:rPr>
              <a:t>EXCEPTION MISSED</a:t>
            </a:r>
            <a:endParaRPr lang="en-US" sz="1050" dirty="0"/>
          </a:p>
        </p:txBody>
      </p:sp>
      <p:sp>
        <p:nvSpPr>
          <p:cNvPr id="23" name="Verifiable answer sheet"/>
          <p:cNvSpPr/>
          <p:nvPr/>
        </p:nvSpPr>
        <p:spPr>
          <a:xfrm>
            <a:off x="6172200" y="3474720"/>
            <a:ext cx="5468112" cy="2514600"/>
          </a:xfrm>
          <a:prstGeom prst="roundRect">
            <a:avLst>
              <a:gd name="adj" fmla="val 2182"/>
            </a:avLst>
          </a:prstGeom>
          <a:solidFill>
            <a:srgbClr val="F4F0E8"/>
          </a:solidFill>
          <a:ln w="9525">
            <a:solidFill>
              <a:srgbClr val="D8D0BF"/>
            </a:solidFill>
            <a:prstDash val="solid"/>
          </a:ln>
          <a:effectLst>
            <a:outerShdw sx="100000" sy="100000" kx="0" ky="0" algn="bl" rotWithShape="0" blurRad="152400" dist="50800" dir="5400000">
              <a:srgbClr val="000000">
                <a:alpha val="45000"/>
              </a:srgbClr>
            </a:outerShdw>
          </a:effectLst>
        </p:spPr>
      </p:sp>
      <p:sp>
        <p:nvSpPr>
          <p:cNvPr id="24" name="Text 22"/>
          <p:cNvSpPr txBox="1"/>
          <p:nvPr/>
        </p:nvSpPr>
        <p:spPr>
          <a:xfrm>
            <a:off x="6446520" y="3639312"/>
            <a:ext cx="2743200" cy="256032"/>
          </a:xfrm>
          <a:prstGeom prst="rect">
            <a:avLst/>
          </a:prstGeom>
          <a:noFill/>
          <a:ln/>
        </p:spPr>
        <p:txBody>
          <a:bodyPr wrap="square" lIns="0" tIns="0" rIns="0" bIns="0" rtlCol="0" anchor="ctr"/>
          <a:lstStyle/>
          <a:p>
            <a:pPr indent="0" marL="0">
              <a:buNone/>
            </a:pPr>
            <a:r>
              <a:rPr lang="en-US" sz="1000" b="1" spc="200" kern="0" dirty="0">
                <a:solidFill>
                  <a:srgbClr val="8A6A2C"/>
                </a:solidFill>
              </a:rPr>
              <a:t>VERIFIABLE ANSWER</a:t>
            </a:r>
            <a:endParaRPr lang="en-US" sz="1000" dirty="0"/>
          </a:p>
        </p:txBody>
      </p:sp>
      <p:sp>
        <p:nvSpPr>
          <p:cNvPr id="25" name="Text 23"/>
          <p:cNvSpPr txBox="1"/>
          <p:nvPr/>
        </p:nvSpPr>
        <p:spPr>
          <a:xfrm>
            <a:off x="6446520" y="3931920"/>
            <a:ext cx="4983480" cy="1280160"/>
          </a:xfrm>
          <a:prstGeom prst="rect">
            <a:avLst/>
          </a:prstGeom>
          <a:noFill/>
          <a:ln/>
        </p:spPr>
        <p:txBody>
          <a:bodyPr wrap="square" lIns="0" tIns="0" rIns="0" bIns="0" rtlCol="0" anchor="t"/>
          <a:lstStyle/>
          <a:p>
            <a:pPr indent="0" marL="0">
              <a:buNone/>
            </a:pPr>
            <a:r>
              <a:rPr lang="en-US" sz="1500" dirty="0">
                <a:solidFill>
                  <a:srgbClr val="1A2232"/>
                </a:solidFill>
              </a:rPr>
              <a:t>Not liable for customs-clearance delays </a:t>
            </a:r>
            <a:pPr indent="0" marL="0">
              <a:buNone/>
            </a:pPr>
            <a:r>
              <a:rPr lang="en-US" sz="1500" b="1" dirty="0">
                <a:solidFill>
                  <a:srgbClr val="1A2232"/>
                </a:solidFill>
              </a:rPr>
              <a:t>(§2.2)</a:t>
            </a:r>
            <a:pPr indent="0" marL="0">
              <a:buNone/>
            </a:pPr>
            <a:r>
              <a:rPr lang="en-US" sz="1500" dirty="0">
                <a:solidFill>
                  <a:srgbClr val="1A2232"/>
                </a:solidFill>
              </a:rPr>
              <a:t> — except for Temperature Sensitive Goods: strictly liable for spoilage beyond four hours of the delivery window, regardless of customs detention </a:t>
            </a:r>
            <a:pPr indent="0" marL="0">
              <a:buNone/>
            </a:pPr>
            <a:r>
              <a:rPr lang="en-US" sz="1500" b="1" dirty="0">
                <a:solidFill>
                  <a:srgbClr val="1A2232"/>
                </a:solidFill>
              </a:rPr>
              <a:t>(§2.3 overrides §2.2).</a:t>
            </a:r>
            <a:endParaRPr lang="en-US" sz="1500" dirty="0"/>
          </a:p>
        </p:txBody>
      </p:sp>
      <p:sp>
        <p:nvSpPr>
          <p:cNvPr id="26" name="Chip §2.2 QUOTED"/>
          <p:cNvSpPr/>
          <p:nvPr/>
        </p:nvSpPr>
        <p:spPr>
          <a:xfrm>
            <a:off x="6446520" y="5029200"/>
            <a:ext cx="1467612" cy="292608"/>
          </a:xfrm>
          <a:prstGeom prst="roundRect">
            <a:avLst>
              <a:gd name="adj" fmla="val 50000"/>
            </a:avLst>
          </a:prstGeom>
          <a:solidFill>
            <a:srgbClr val="8A6A2C">
              <a:alpha val="18000"/>
            </a:srgbClr>
          </a:solidFill>
          <a:ln w="12700">
            <a:solidFill>
              <a:srgbClr val="8A6A2C"/>
            </a:solidFill>
            <a:prstDash val="solid"/>
          </a:ln>
        </p:spPr>
      </p:sp>
      <p:sp>
        <p:nvSpPr>
          <p:cNvPr id="27" name="Text 25"/>
          <p:cNvSpPr txBox="1"/>
          <p:nvPr/>
        </p:nvSpPr>
        <p:spPr>
          <a:xfrm>
            <a:off x="6446520" y="5029200"/>
            <a:ext cx="1467612" cy="292608"/>
          </a:xfrm>
          <a:prstGeom prst="rect">
            <a:avLst/>
          </a:prstGeom>
          <a:noFill/>
          <a:ln/>
        </p:spPr>
        <p:txBody>
          <a:bodyPr wrap="square" lIns="0" tIns="0" rIns="0" bIns="0" rtlCol="0" anchor="ctr"/>
          <a:lstStyle/>
          <a:p>
            <a:pPr algn="ctr" indent="0" marL="0">
              <a:buNone/>
            </a:pPr>
            <a:r>
              <a:rPr lang="en-US" sz="1050" b="1" spc="100" kern="0" dirty="0">
                <a:solidFill>
                  <a:srgbClr val="8A6A2C"/>
                </a:solidFill>
              </a:rPr>
              <a:t>§2.2 QUOTED</a:t>
            </a:r>
            <a:endParaRPr lang="en-US" sz="1050" dirty="0"/>
          </a:p>
        </p:txBody>
      </p:sp>
      <p:sp>
        <p:nvSpPr>
          <p:cNvPr id="28" name="Chip §2.3 QUOTED"/>
          <p:cNvSpPr/>
          <p:nvPr/>
        </p:nvSpPr>
        <p:spPr>
          <a:xfrm>
            <a:off x="8023860" y="5029200"/>
            <a:ext cx="1467612" cy="292608"/>
          </a:xfrm>
          <a:prstGeom prst="roundRect">
            <a:avLst>
              <a:gd name="adj" fmla="val 50000"/>
            </a:avLst>
          </a:prstGeom>
          <a:solidFill>
            <a:srgbClr val="8A6A2C">
              <a:alpha val="18000"/>
            </a:srgbClr>
          </a:solidFill>
          <a:ln w="12700">
            <a:solidFill>
              <a:srgbClr val="8A6A2C"/>
            </a:solidFill>
            <a:prstDash val="solid"/>
          </a:ln>
        </p:spPr>
      </p:sp>
      <p:sp>
        <p:nvSpPr>
          <p:cNvPr id="29" name="Text 27"/>
          <p:cNvSpPr txBox="1"/>
          <p:nvPr/>
        </p:nvSpPr>
        <p:spPr>
          <a:xfrm>
            <a:off x="8023860" y="5029200"/>
            <a:ext cx="1467612" cy="292608"/>
          </a:xfrm>
          <a:prstGeom prst="rect">
            <a:avLst/>
          </a:prstGeom>
          <a:noFill/>
          <a:ln/>
        </p:spPr>
        <p:txBody>
          <a:bodyPr wrap="square" lIns="0" tIns="0" rIns="0" bIns="0" rtlCol="0" anchor="ctr"/>
          <a:lstStyle/>
          <a:p>
            <a:pPr algn="ctr" indent="0" marL="0">
              <a:buNone/>
            </a:pPr>
            <a:r>
              <a:rPr lang="en-US" sz="1050" b="1" spc="100" kern="0" dirty="0">
                <a:solidFill>
                  <a:srgbClr val="8A6A2C"/>
                </a:solidFill>
              </a:rPr>
              <a:t>§2.3 QUOTED</a:t>
            </a:r>
            <a:endParaRPr lang="en-US" sz="1050" dirty="0"/>
          </a:p>
        </p:txBody>
      </p:sp>
      <p:sp>
        <p:nvSpPr>
          <p:cNvPr id="30" name="Chip SUPPORTED"/>
          <p:cNvSpPr/>
          <p:nvPr/>
        </p:nvSpPr>
        <p:spPr>
          <a:xfrm>
            <a:off x="9601200" y="5029200"/>
            <a:ext cx="1275588" cy="292608"/>
          </a:xfrm>
          <a:prstGeom prst="roundRect">
            <a:avLst>
              <a:gd name="adj" fmla="val 50000"/>
            </a:avLst>
          </a:prstGeom>
          <a:solidFill>
            <a:srgbClr val="4CB58A">
              <a:alpha val="18000"/>
            </a:srgbClr>
          </a:solidFill>
          <a:ln w="12700">
            <a:solidFill>
              <a:srgbClr val="4CB58A"/>
            </a:solidFill>
            <a:prstDash val="solid"/>
          </a:ln>
        </p:spPr>
      </p:sp>
      <p:sp>
        <p:nvSpPr>
          <p:cNvPr id="31" name="Text 29"/>
          <p:cNvSpPr txBox="1"/>
          <p:nvPr/>
        </p:nvSpPr>
        <p:spPr>
          <a:xfrm>
            <a:off x="9601200" y="5029200"/>
            <a:ext cx="1275588" cy="292608"/>
          </a:xfrm>
          <a:prstGeom prst="rect">
            <a:avLst/>
          </a:prstGeom>
          <a:noFill/>
          <a:ln/>
        </p:spPr>
        <p:txBody>
          <a:bodyPr wrap="square" lIns="0" tIns="0" rIns="0" bIns="0" rtlCol="0" anchor="ctr"/>
          <a:lstStyle/>
          <a:p>
            <a:pPr algn="ctr" indent="0" marL="0">
              <a:buNone/>
            </a:pPr>
            <a:r>
              <a:rPr lang="en-US" sz="1050" b="1" spc="100" kern="0" dirty="0">
                <a:solidFill>
                  <a:srgbClr val="2E8A64"/>
                </a:solidFill>
              </a:rPr>
              <a:t>SUPPORTED</a:t>
            </a:r>
            <a:endParaRPr lang="en-US" sz="1050" dirty="0"/>
          </a:p>
        </p:txBody>
      </p:sp>
      <p:sp>
        <p:nvSpPr>
          <p:cNvPr id="32" name="Text 30"/>
          <p:cNvSpPr txBox="1"/>
          <p:nvPr/>
        </p:nvSpPr>
        <p:spPr>
          <a:xfrm>
            <a:off x="6446520" y="5486400"/>
            <a:ext cx="5029200" cy="274320"/>
          </a:xfrm>
          <a:prstGeom prst="rect">
            <a:avLst/>
          </a:prstGeom>
          <a:noFill/>
          <a:ln/>
        </p:spPr>
        <p:txBody>
          <a:bodyPr wrap="square" lIns="0" tIns="0" rIns="0" bIns="0" rtlCol="0" anchor="ctr"/>
          <a:lstStyle/>
          <a:p>
            <a:pPr indent="0" marL="0">
              <a:buNone/>
            </a:pPr>
            <a:r>
              <a:rPr lang="en-US" sz="1050" i="1" dirty="0">
                <a:solidFill>
                  <a:srgbClr val="4A5468"/>
                </a:solidFill>
              </a:rPr>
              <a:t>Clauses from UNSEEN-LOGISTICS-001; retrieval and the override link verified live (slide 5).</a:t>
            </a:r>
            <a:endParaRPr lang="en-US" sz="105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WHY EXISTING APPROACHES FALL SHORT</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Three ways to read a contract</a:t>
            </a:r>
            <a:endParaRPr lang="en-US" sz="3200" dirty="0"/>
          </a:p>
        </p:txBody>
      </p:sp>
      <p:graphicFrame>
        <p:nvGraphicFramePr>
          <p:cNvPr id="4" name="Comparison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148840"/>
                <a:gridCol w="2606040"/>
                <a:gridCol w="2834640"/>
                <a:gridCol w="3502152"/>
              </a:tblGrid>
              <a:tr h="457200">
                <a:tc>
                  <a:txBody>
                    <a:bodyPr/>
                    <a:lstStyle/>
                    <a:p>
                      <a:pPr indent="0" marL="0">
                        <a:buNone/>
                      </a:pP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202B3D"/>
                    </a:solidFill>
                  </a:tcPr>
                </a:tc>
                <a:tc>
                  <a:txBody>
                    <a:bodyPr/>
                    <a:lstStyle/>
                    <a:p>
                      <a:pPr indent="0" marL="0">
                        <a:buNone/>
                      </a:pPr>
                      <a:r>
                        <a:rPr lang="en-US" sz="1400" b="1" dirty="0">
                          <a:solidFill>
                            <a:srgbClr val="F4F0E8"/>
                          </a:solidFill>
                          <a:latin typeface="Calibri" pitchFamily="34" charset="0"/>
                          <a:ea typeface="Calibri" pitchFamily="34" charset="-122"/>
                          <a:cs typeface="Calibri" pitchFamily="34" charset="-120"/>
                        </a:rPr>
                        <a:t>Manual review</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202B3D"/>
                    </a:solidFill>
                  </a:tcPr>
                </a:tc>
                <a:tc>
                  <a:txBody>
                    <a:bodyPr/>
                    <a:lstStyle/>
                    <a:p>
                      <a:pPr indent="0" marL="0">
                        <a:buNone/>
                      </a:pPr>
                      <a:r>
                        <a:rPr lang="en-US" sz="1400" b="1" dirty="0">
                          <a:solidFill>
                            <a:srgbClr val="F4F0E8"/>
                          </a:solidFill>
                          <a:latin typeface="Calibri" pitchFamily="34" charset="0"/>
                          <a:ea typeface="Calibri" pitchFamily="34" charset="-122"/>
                          <a:cs typeface="Calibri" pitchFamily="34" charset="-120"/>
                        </a:rPr>
                        <a:t>Generic LLM document chat</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202B3D"/>
                    </a:solidFill>
                  </a:tcPr>
                </a:tc>
                <a:tc>
                  <a:txBody>
                    <a:bodyPr/>
                    <a:lstStyle/>
                    <a:p>
                      <a:pPr indent="0" marL="0">
                        <a:buNone/>
                      </a:pPr>
                      <a:r>
                        <a:rPr lang="en-US" sz="1400" b="1" dirty="0">
                          <a:solidFill>
                            <a:srgbClr val="080C15"/>
                          </a:solidFill>
                          <a:latin typeface="Calibri" pitchFamily="34" charset="0"/>
                          <a:ea typeface="Calibri" pitchFamily="34" charset="-122"/>
                          <a:cs typeface="Calibri" pitchFamily="34" charset="-120"/>
                        </a:rPr>
                        <a:t>HNX Legal Intelligence</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C5A059"/>
                    </a:solidFill>
                  </a:tcPr>
                </a:tc>
              </a:tr>
              <a:tr h="713232">
                <a:tc>
                  <a:txBody>
                    <a:bodyPr/>
                    <a:lstStyle/>
                    <a:p>
                      <a:pPr indent="0" marL="0">
                        <a:buNone/>
                      </a:pPr>
                      <a:r>
                        <a:rPr lang="en-US" sz="1400" b="1" dirty="0">
                          <a:solidFill>
                            <a:srgbClr val="F4F0E8"/>
                          </a:solidFill>
                          <a:latin typeface="Calibri" pitchFamily="34" charset="0"/>
                          <a:ea typeface="Calibri" pitchFamily="34" charset="-122"/>
                          <a:cs typeface="Calibri" pitchFamily="34" charset="-120"/>
                        </a:rPr>
                        <a:t>Evidence trail</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Strong, but slow to assemble</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Sources often missing or hard to check</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F4F0E8"/>
                          </a:solidFill>
                          <a:latin typeface="Calibri" pitchFamily="34" charset="0"/>
                          <a:ea typeface="Calibri" pitchFamily="34" charset="-122"/>
                          <a:cs typeface="Calibri" pitchFamily="34" charset="-120"/>
                        </a:rPr>
                        <a:t>Every cited quote is checked against the source text</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A2436"/>
                    </a:solidFill>
                  </a:tcPr>
                </a:tc>
              </a:tr>
              <a:tr h="713232">
                <a:tc>
                  <a:txBody>
                    <a:bodyPr/>
                    <a:lstStyle/>
                    <a:p>
                      <a:pPr indent="0" marL="0">
                        <a:buNone/>
                      </a:pPr>
                      <a:r>
                        <a:rPr lang="en-US" sz="1400" b="1" dirty="0">
                          <a:solidFill>
                            <a:srgbClr val="F4F0E8"/>
                          </a:solidFill>
                          <a:latin typeface="Calibri" pitchFamily="34" charset="0"/>
                          <a:ea typeface="Calibri" pitchFamily="34" charset="-122"/>
                          <a:cs typeface="Calibri" pitchFamily="34" charset="-120"/>
                        </a:rPr>
                        <a:t>Cross-clause links</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Depends on reviewer attention</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Left to the model; not inspectable</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F4F0E8"/>
                          </a:solidFill>
                          <a:latin typeface="Calibri" pitchFamily="34" charset="0"/>
                          <a:ea typeface="Calibri" pitchFamily="34" charset="-122"/>
                          <a:cs typeface="Calibri" pitchFamily="34" charset="-120"/>
                        </a:rPr>
                        <a:t>Follows “subject to”, “notwithstanding”, “defined in”</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A2436"/>
                    </a:solidFill>
                  </a:tcPr>
                </a:tc>
              </a:tr>
              <a:tr h="713232">
                <a:tc>
                  <a:txBody>
                    <a:bodyPr/>
                    <a:lstStyle/>
                    <a:p>
                      <a:pPr indent="0" marL="0">
                        <a:buNone/>
                      </a:pPr>
                      <a:r>
                        <a:rPr lang="en-US" sz="1400" b="1" dirty="0">
                          <a:solidFill>
                            <a:srgbClr val="F4F0E8"/>
                          </a:solidFill>
                          <a:latin typeface="Calibri" pitchFamily="34" charset="0"/>
                          <a:ea typeface="Calibri" pitchFamily="34" charset="-122"/>
                          <a:cs typeface="Calibri" pitchFamily="34" charset="-120"/>
                        </a:rPr>
                        <a:t>Missing evidence</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Reviewer notes the gap</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May fill the gap with plausible text</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F4F0E8"/>
                          </a:solidFill>
                          <a:latin typeface="Calibri" pitchFamily="34" charset="0"/>
                          <a:ea typeface="Calibri" pitchFamily="34" charset="-122"/>
                          <a:cs typeface="Calibri" pitchFamily="34" charset="-120"/>
                        </a:rPr>
                        <a:t>Abstains — no answer, no citations</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A2436"/>
                    </a:solidFill>
                  </a:tcPr>
                </a:tc>
              </a:tr>
              <a:tr h="713232">
                <a:tc>
                  <a:txBody>
                    <a:bodyPr/>
                    <a:lstStyle/>
                    <a:p>
                      <a:pPr indent="0" marL="0">
                        <a:buNone/>
                      </a:pPr>
                      <a:r>
                        <a:rPr lang="en-US" sz="1400" b="1" dirty="0">
                          <a:solidFill>
                            <a:srgbClr val="F4F0E8"/>
                          </a:solidFill>
                          <a:latin typeface="Calibri" pitchFamily="34" charset="0"/>
                          <a:ea typeface="Calibri" pitchFamily="34" charset="-122"/>
                          <a:cs typeface="Calibri" pitchFamily="34" charset="-120"/>
                        </a:rPr>
                        <a:t>Drafting</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Written from scratch</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Facts and allegations can blur</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F4F0E8"/>
                          </a:solidFill>
                          <a:latin typeface="Calibri" pitchFamily="34" charset="0"/>
                          <a:ea typeface="Calibri" pitchFamily="34" charset="-122"/>
                          <a:cs typeface="Calibri" pitchFamily="34" charset="-120"/>
                        </a:rPr>
                        <a:t>Clauses quoted, allegations labelled, gaps left as placeholders</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A2436"/>
                    </a:solidFill>
                  </a:tcPr>
                </a:tc>
              </a:tr>
              <a:tr h="713232">
                <a:tc>
                  <a:txBody>
                    <a:bodyPr/>
                    <a:lstStyle/>
                    <a:p>
                      <a:pPr indent="0" marL="0">
                        <a:buNone/>
                      </a:pPr>
                      <a:r>
                        <a:rPr lang="en-US" sz="1400" b="1" dirty="0">
                          <a:solidFill>
                            <a:srgbClr val="F4F0E8"/>
                          </a:solidFill>
                          <a:latin typeface="Calibri" pitchFamily="34" charset="0"/>
                          <a:ea typeface="Calibri" pitchFamily="34" charset="-122"/>
                          <a:cs typeface="Calibri" pitchFamily="34" charset="-120"/>
                        </a:rPr>
                        <a:t>Lawyer review</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Is the review</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AEB6C4"/>
                          </a:solidFill>
                          <a:latin typeface="Calibri" pitchFamily="34" charset="0"/>
                          <a:ea typeface="Calibri" pitchFamily="34" charset="-122"/>
                          <a:cs typeface="Calibri" pitchFamily="34" charset="-120"/>
                        </a:rPr>
                        <a:t>Still required</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400" dirty="0">
                          <a:solidFill>
                            <a:srgbClr val="F4F0E8"/>
                          </a:solidFill>
                          <a:latin typeface="Calibri" pitchFamily="34" charset="0"/>
                          <a:ea typeface="Calibri" pitchFamily="34" charset="-122"/>
                          <a:cs typeface="Calibri" pitchFamily="34" charset="-120"/>
                        </a:rPr>
                        <a:t>Still required — drafts are labelled for review</a:t>
                      </a:r>
                      <a:endParaRPr lang="en-US" sz="1400" dirty="0">
                        <a:latin typeface="Calibri" charset="0"/>
                        <a:ea typeface="Calibri" charset="0"/>
                        <a:cs typeface="Calibri" charset="0"/>
                      </a:endParaRPr>
                    </a:p>
                  </a:txBody>
                  <a:tcPr marL="128016" marR="128016"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A2436"/>
                    </a:solidFill>
                  </a:tcPr>
                </a:tc>
              </a:tr>
            </a:tbl>
          </a:graphicData>
        </a:graphic>
      </p:graphicFrame>
      <p:sp>
        <p:nvSpPr>
          <p:cNvPr id="5" name="Text 2"/>
          <p:cNvSpPr txBox="1"/>
          <p:nvPr/>
        </p:nvSpPr>
        <p:spPr>
          <a:xfrm>
            <a:off x="548640" y="5833872"/>
            <a:ext cx="11094415" cy="365760"/>
          </a:xfrm>
          <a:prstGeom prst="rect">
            <a:avLst/>
          </a:prstGeom>
          <a:noFill/>
          <a:ln/>
        </p:spPr>
        <p:txBody>
          <a:bodyPr wrap="square" lIns="0" tIns="0" rIns="0" bIns="0" rtlCol="0" anchor="ctr"/>
          <a:lstStyle/>
          <a:p>
            <a:pPr indent="0" marL="0">
              <a:buNone/>
            </a:pPr>
            <a:r>
              <a:rPr lang="en-US" sz="1700" i="1" dirty="0">
                <a:solidFill>
                  <a:schemeClr val="accent1"/>
                </a:solidFill>
                <a:latin typeface="Georgia" pitchFamily="34" charset="0"/>
                <a:ea typeface="Georgia" pitchFamily="34" charset="-122"/>
                <a:cs typeface="Georgia" pitchFamily="34" charset="-120"/>
              </a:rPr>
              <a:t>An answer without supporting evidence is not enough for legal work.</a:t>
            </a:r>
            <a:endParaRPr lang="en-US" sz="17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OUR SOLUTION</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One workflow, from upload to evidence</a:t>
            </a:r>
            <a:endParaRPr lang="en-US" sz="3200" dirty="0"/>
          </a:p>
        </p:txBody>
      </p:sp>
      <p:sp>
        <p:nvSpPr>
          <p:cNvPr id="4" name="Workflow step 1"/>
          <p:cNvSpPr/>
          <p:nvPr/>
        </p:nvSpPr>
        <p:spPr>
          <a:xfrm>
            <a:off x="548640" y="1600200"/>
            <a:ext cx="1709928" cy="1188720"/>
          </a:xfrm>
          <a:prstGeom prst="roundRect">
            <a:avLst>
              <a:gd name="adj" fmla="val 6154"/>
            </a:avLst>
          </a:prstGeom>
          <a:solidFill>
            <a:srgbClr val="202B3D"/>
          </a:solidFill>
          <a:ln w="9525">
            <a:solidFill>
              <a:srgbClr val="33405A"/>
            </a:solidFill>
            <a:prstDash val="solid"/>
          </a:ln>
        </p:spPr>
      </p:sp>
      <p:sp>
        <p:nvSpPr>
          <p:cNvPr id="5" name="Text 3"/>
          <p:cNvSpPr txBox="1"/>
          <p:nvPr/>
        </p:nvSpPr>
        <p:spPr>
          <a:xfrm>
            <a:off x="685800" y="1691640"/>
            <a:ext cx="548640" cy="256032"/>
          </a:xfrm>
          <a:prstGeom prst="rect">
            <a:avLst/>
          </a:prstGeom>
          <a:noFill/>
          <a:ln/>
        </p:spPr>
        <p:txBody>
          <a:bodyPr wrap="square" lIns="0" tIns="0" rIns="0" bIns="0" rtlCol="0" anchor="ctr"/>
          <a:lstStyle/>
          <a:p>
            <a:pPr indent="0" marL="0">
              <a:buNone/>
            </a:pPr>
            <a:r>
              <a:rPr lang="en-US" sz="1300" dirty="0">
                <a:solidFill>
                  <a:schemeClr val="accent1"/>
                </a:solidFill>
                <a:latin typeface="Georgia" pitchFamily="34" charset="0"/>
                <a:ea typeface="Georgia" pitchFamily="34" charset="-122"/>
                <a:cs typeface="Georgia" pitchFamily="34" charset="-120"/>
              </a:rPr>
              <a:t>01</a:t>
            </a:r>
            <a:endParaRPr lang="en-US" sz="1300" dirty="0"/>
          </a:p>
        </p:txBody>
      </p:sp>
      <p:sp>
        <p:nvSpPr>
          <p:cNvPr id="6" name="Text 4"/>
          <p:cNvSpPr txBox="1"/>
          <p:nvPr/>
        </p:nvSpPr>
        <p:spPr>
          <a:xfrm>
            <a:off x="685800" y="1947672"/>
            <a:ext cx="1435608" cy="292608"/>
          </a:xfrm>
          <a:prstGeom prst="rect">
            <a:avLst/>
          </a:prstGeom>
          <a:noFill/>
          <a:ln/>
        </p:spPr>
        <p:txBody>
          <a:bodyPr wrap="square" lIns="0" tIns="0" rIns="0" bIns="0" rtlCol="0" anchor="ctr"/>
          <a:lstStyle/>
          <a:p>
            <a:pPr indent="0" marL="0">
              <a:buNone/>
            </a:pPr>
            <a:r>
              <a:rPr lang="en-US" sz="1500" b="1" dirty="0">
                <a:solidFill>
                  <a:schemeClr val="bg1"/>
                </a:solidFill>
              </a:rPr>
              <a:t>Upload</a:t>
            </a:r>
            <a:endParaRPr lang="en-US" sz="1500" dirty="0"/>
          </a:p>
        </p:txBody>
      </p:sp>
      <p:sp>
        <p:nvSpPr>
          <p:cNvPr id="7" name="Text 5"/>
          <p:cNvSpPr txBox="1"/>
          <p:nvPr/>
        </p:nvSpPr>
        <p:spPr>
          <a:xfrm>
            <a:off x="685800" y="2240280"/>
            <a:ext cx="1453896" cy="502920"/>
          </a:xfrm>
          <a:prstGeom prst="rect">
            <a:avLst/>
          </a:prstGeom>
          <a:noFill/>
          <a:ln/>
        </p:spPr>
        <p:txBody>
          <a:bodyPr wrap="square" lIns="0" tIns="0" rIns="0" bIns="0" rtlCol="0" anchor="t"/>
          <a:lstStyle/>
          <a:p>
            <a:pPr indent="0" marL="0">
              <a:buNone/>
            </a:pPr>
            <a:r>
              <a:rPr lang="en-US" sz="1150" dirty="0">
                <a:solidFill>
                  <a:schemeClr val="bg2"/>
                </a:solidFill>
              </a:rPr>
              <a:t>PDF, TXT or Markdown</a:t>
            </a:r>
            <a:endParaRPr lang="en-US" sz="1150" dirty="0"/>
          </a:p>
        </p:txBody>
      </p:sp>
      <p:sp>
        <p:nvSpPr>
          <p:cNvPr id="8" name="Text 6"/>
          <p:cNvSpPr txBox="1"/>
          <p:nvPr/>
        </p:nvSpPr>
        <p:spPr>
          <a:xfrm>
            <a:off x="2258568" y="1965960"/>
            <a:ext cx="166969" cy="36576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9" name="Workflow step 2"/>
          <p:cNvSpPr/>
          <p:nvPr/>
        </p:nvSpPr>
        <p:spPr>
          <a:xfrm>
            <a:off x="2425537" y="1600200"/>
            <a:ext cx="1709928" cy="1188720"/>
          </a:xfrm>
          <a:prstGeom prst="roundRect">
            <a:avLst>
              <a:gd name="adj" fmla="val 6154"/>
            </a:avLst>
          </a:prstGeom>
          <a:solidFill>
            <a:srgbClr val="202B3D"/>
          </a:solidFill>
          <a:ln w="9525">
            <a:solidFill>
              <a:srgbClr val="33405A"/>
            </a:solidFill>
            <a:prstDash val="solid"/>
          </a:ln>
        </p:spPr>
      </p:sp>
      <p:sp>
        <p:nvSpPr>
          <p:cNvPr id="10" name="Text 8"/>
          <p:cNvSpPr txBox="1"/>
          <p:nvPr/>
        </p:nvSpPr>
        <p:spPr>
          <a:xfrm>
            <a:off x="2562697" y="1691640"/>
            <a:ext cx="548640" cy="256032"/>
          </a:xfrm>
          <a:prstGeom prst="rect">
            <a:avLst/>
          </a:prstGeom>
          <a:noFill/>
          <a:ln/>
        </p:spPr>
        <p:txBody>
          <a:bodyPr wrap="square" lIns="0" tIns="0" rIns="0" bIns="0" rtlCol="0" anchor="ctr"/>
          <a:lstStyle/>
          <a:p>
            <a:pPr indent="0" marL="0">
              <a:buNone/>
            </a:pPr>
            <a:r>
              <a:rPr lang="en-US" sz="1300" dirty="0">
                <a:solidFill>
                  <a:schemeClr val="accent1"/>
                </a:solidFill>
                <a:latin typeface="Georgia" pitchFamily="34" charset="0"/>
                <a:ea typeface="Georgia" pitchFamily="34" charset="-122"/>
                <a:cs typeface="Georgia" pitchFamily="34" charset="-120"/>
              </a:rPr>
              <a:t>02</a:t>
            </a:r>
            <a:endParaRPr lang="en-US" sz="1300" dirty="0"/>
          </a:p>
        </p:txBody>
      </p:sp>
      <p:sp>
        <p:nvSpPr>
          <p:cNvPr id="11" name="Text 9"/>
          <p:cNvSpPr txBox="1"/>
          <p:nvPr/>
        </p:nvSpPr>
        <p:spPr>
          <a:xfrm>
            <a:off x="2562697" y="1947672"/>
            <a:ext cx="1435608" cy="292608"/>
          </a:xfrm>
          <a:prstGeom prst="rect">
            <a:avLst/>
          </a:prstGeom>
          <a:noFill/>
          <a:ln/>
        </p:spPr>
        <p:txBody>
          <a:bodyPr wrap="square" lIns="0" tIns="0" rIns="0" bIns="0" rtlCol="0" anchor="ctr"/>
          <a:lstStyle/>
          <a:p>
            <a:pPr indent="0" marL="0">
              <a:buNone/>
            </a:pPr>
            <a:r>
              <a:rPr lang="en-US" sz="1500" b="1" dirty="0">
                <a:solidFill>
                  <a:schemeClr val="bg1"/>
                </a:solidFill>
              </a:rPr>
              <a:t>Extract &amp; index</a:t>
            </a:r>
            <a:endParaRPr lang="en-US" sz="1500" dirty="0"/>
          </a:p>
        </p:txBody>
      </p:sp>
      <p:sp>
        <p:nvSpPr>
          <p:cNvPr id="12" name="Text 10"/>
          <p:cNvSpPr txBox="1"/>
          <p:nvPr/>
        </p:nvSpPr>
        <p:spPr>
          <a:xfrm>
            <a:off x="2562697" y="2240280"/>
            <a:ext cx="1453896" cy="502920"/>
          </a:xfrm>
          <a:prstGeom prst="rect">
            <a:avLst/>
          </a:prstGeom>
          <a:noFill/>
          <a:ln/>
        </p:spPr>
        <p:txBody>
          <a:bodyPr wrap="square" lIns="0" tIns="0" rIns="0" bIns="0" rtlCol="0" anchor="t"/>
          <a:lstStyle/>
          <a:p>
            <a:pPr indent="0" marL="0">
              <a:buNone/>
            </a:pPr>
            <a:r>
              <a:rPr lang="en-US" sz="1150" dirty="0">
                <a:solidFill>
                  <a:schemeClr val="bg2"/>
                </a:solidFill>
              </a:rPr>
              <a:t>Section-aware chunks with page and path</a:t>
            </a:r>
            <a:endParaRPr lang="en-US" sz="1150" dirty="0"/>
          </a:p>
        </p:txBody>
      </p:sp>
      <p:sp>
        <p:nvSpPr>
          <p:cNvPr id="13" name="Text 11"/>
          <p:cNvSpPr txBox="1"/>
          <p:nvPr/>
        </p:nvSpPr>
        <p:spPr>
          <a:xfrm>
            <a:off x="4135465" y="1965960"/>
            <a:ext cx="166969" cy="36576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14" name="Workflow step 3"/>
          <p:cNvSpPr/>
          <p:nvPr/>
        </p:nvSpPr>
        <p:spPr>
          <a:xfrm>
            <a:off x="4302435" y="1600200"/>
            <a:ext cx="1709928" cy="1188720"/>
          </a:xfrm>
          <a:prstGeom prst="roundRect">
            <a:avLst>
              <a:gd name="adj" fmla="val 6154"/>
            </a:avLst>
          </a:prstGeom>
          <a:solidFill>
            <a:srgbClr val="202B3D"/>
          </a:solidFill>
          <a:ln w="9525">
            <a:solidFill>
              <a:srgbClr val="33405A"/>
            </a:solidFill>
            <a:prstDash val="solid"/>
          </a:ln>
        </p:spPr>
      </p:sp>
      <p:sp>
        <p:nvSpPr>
          <p:cNvPr id="15" name="Text 13"/>
          <p:cNvSpPr txBox="1"/>
          <p:nvPr/>
        </p:nvSpPr>
        <p:spPr>
          <a:xfrm>
            <a:off x="4439595" y="1691640"/>
            <a:ext cx="548640" cy="256032"/>
          </a:xfrm>
          <a:prstGeom prst="rect">
            <a:avLst/>
          </a:prstGeom>
          <a:noFill/>
          <a:ln/>
        </p:spPr>
        <p:txBody>
          <a:bodyPr wrap="square" lIns="0" tIns="0" rIns="0" bIns="0" rtlCol="0" anchor="ctr"/>
          <a:lstStyle/>
          <a:p>
            <a:pPr indent="0" marL="0">
              <a:buNone/>
            </a:pPr>
            <a:r>
              <a:rPr lang="en-US" sz="1300" dirty="0">
                <a:solidFill>
                  <a:schemeClr val="accent1"/>
                </a:solidFill>
                <a:latin typeface="Georgia" pitchFamily="34" charset="0"/>
                <a:ea typeface="Georgia" pitchFamily="34" charset="-122"/>
                <a:cs typeface="Georgia" pitchFamily="34" charset="-120"/>
              </a:rPr>
              <a:t>03</a:t>
            </a:r>
            <a:endParaRPr lang="en-US" sz="1300" dirty="0"/>
          </a:p>
        </p:txBody>
      </p:sp>
      <p:sp>
        <p:nvSpPr>
          <p:cNvPr id="16" name="Text 14"/>
          <p:cNvSpPr txBox="1"/>
          <p:nvPr/>
        </p:nvSpPr>
        <p:spPr>
          <a:xfrm>
            <a:off x="4439595" y="1947672"/>
            <a:ext cx="1435608" cy="292608"/>
          </a:xfrm>
          <a:prstGeom prst="rect">
            <a:avLst/>
          </a:prstGeom>
          <a:noFill/>
          <a:ln/>
        </p:spPr>
        <p:txBody>
          <a:bodyPr wrap="square" lIns="0" tIns="0" rIns="0" bIns="0" rtlCol="0" anchor="ctr"/>
          <a:lstStyle/>
          <a:p>
            <a:pPr indent="0" marL="0">
              <a:buNone/>
            </a:pPr>
            <a:r>
              <a:rPr lang="en-US" sz="1500" b="1" dirty="0">
                <a:solidFill>
                  <a:schemeClr val="bg1"/>
                </a:solidFill>
              </a:rPr>
              <a:t>Retrieve</a:t>
            </a:r>
            <a:endParaRPr lang="en-US" sz="1500" dirty="0"/>
          </a:p>
        </p:txBody>
      </p:sp>
      <p:sp>
        <p:nvSpPr>
          <p:cNvPr id="17" name="Text 15"/>
          <p:cNvSpPr txBox="1"/>
          <p:nvPr/>
        </p:nvSpPr>
        <p:spPr>
          <a:xfrm>
            <a:off x="4439595" y="2240280"/>
            <a:ext cx="1453896" cy="502920"/>
          </a:xfrm>
          <a:prstGeom prst="rect">
            <a:avLst/>
          </a:prstGeom>
          <a:noFill/>
          <a:ln/>
        </p:spPr>
        <p:txBody>
          <a:bodyPr wrap="square" lIns="0" tIns="0" rIns="0" bIns="0" rtlCol="0" anchor="t"/>
          <a:lstStyle/>
          <a:p>
            <a:pPr indent="0" marL="0">
              <a:buNone/>
            </a:pPr>
            <a:r>
              <a:rPr lang="en-US" sz="1150" dirty="0">
                <a:solidFill>
                  <a:schemeClr val="bg2"/>
                </a:solidFill>
              </a:rPr>
              <a:t>Keyword + semantic search, fused</a:t>
            </a:r>
            <a:endParaRPr lang="en-US" sz="1150" dirty="0"/>
          </a:p>
        </p:txBody>
      </p:sp>
      <p:sp>
        <p:nvSpPr>
          <p:cNvPr id="18" name="Text 16"/>
          <p:cNvSpPr txBox="1"/>
          <p:nvPr/>
        </p:nvSpPr>
        <p:spPr>
          <a:xfrm>
            <a:off x="6012363" y="1965960"/>
            <a:ext cx="166969" cy="36576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19" name="Workflow step 4"/>
          <p:cNvSpPr/>
          <p:nvPr/>
        </p:nvSpPr>
        <p:spPr>
          <a:xfrm>
            <a:off x="6179332" y="1600200"/>
            <a:ext cx="1709928" cy="1188720"/>
          </a:xfrm>
          <a:prstGeom prst="roundRect">
            <a:avLst>
              <a:gd name="adj" fmla="val 6154"/>
            </a:avLst>
          </a:prstGeom>
          <a:solidFill>
            <a:srgbClr val="202B3D"/>
          </a:solidFill>
          <a:ln w="9525">
            <a:solidFill>
              <a:srgbClr val="33405A"/>
            </a:solidFill>
            <a:prstDash val="solid"/>
          </a:ln>
        </p:spPr>
      </p:sp>
      <p:sp>
        <p:nvSpPr>
          <p:cNvPr id="20" name="Text 18"/>
          <p:cNvSpPr txBox="1"/>
          <p:nvPr/>
        </p:nvSpPr>
        <p:spPr>
          <a:xfrm>
            <a:off x="6316492" y="1691640"/>
            <a:ext cx="548640" cy="256032"/>
          </a:xfrm>
          <a:prstGeom prst="rect">
            <a:avLst/>
          </a:prstGeom>
          <a:noFill/>
          <a:ln/>
        </p:spPr>
        <p:txBody>
          <a:bodyPr wrap="square" lIns="0" tIns="0" rIns="0" bIns="0" rtlCol="0" anchor="ctr"/>
          <a:lstStyle/>
          <a:p>
            <a:pPr indent="0" marL="0">
              <a:buNone/>
            </a:pPr>
            <a:r>
              <a:rPr lang="en-US" sz="1300" dirty="0">
                <a:solidFill>
                  <a:schemeClr val="accent1"/>
                </a:solidFill>
                <a:latin typeface="Georgia" pitchFamily="34" charset="0"/>
                <a:ea typeface="Georgia" pitchFamily="34" charset="-122"/>
                <a:cs typeface="Georgia" pitchFamily="34" charset="-120"/>
              </a:rPr>
              <a:t>04</a:t>
            </a:r>
            <a:endParaRPr lang="en-US" sz="1300" dirty="0"/>
          </a:p>
        </p:txBody>
      </p:sp>
      <p:sp>
        <p:nvSpPr>
          <p:cNvPr id="21" name="Text 19"/>
          <p:cNvSpPr txBox="1"/>
          <p:nvPr/>
        </p:nvSpPr>
        <p:spPr>
          <a:xfrm>
            <a:off x="6316492" y="1947672"/>
            <a:ext cx="1435608" cy="292608"/>
          </a:xfrm>
          <a:prstGeom prst="rect">
            <a:avLst/>
          </a:prstGeom>
          <a:noFill/>
          <a:ln/>
        </p:spPr>
        <p:txBody>
          <a:bodyPr wrap="square" lIns="0" tIns="0" rIns="0" bIns="0" rtlCol="0" anchor="ctr"/>
          <a:lstStyle/>
          <a:p>
            <a:pPr indent="0" marL="0">
              <a:buNone/>
            </a:pPr>
            <a:r>
              <a:rPr lang="en-US" sz="1500" b="1" dirty="0">
                <a:solidFill>
                  <a:schemeClr val="bg1"/>
                </a:solidFill>
              </a:rPr>
              <a:t>Link clauses</a:t>
            </a:r>
            <a:endParaRPr lang="en-US" sz="1500" dirty="0"/>
          </a:p>
        </p:txBody>
      </p:sp>
      <p:sp>
        <p:nvSpPr>
          <p:cNvPr id="22" name="Text 20"/>
          <p:cNvSpPr txBox="1"/>
          <p:nvPr/>
        </p:nvSpPr>
        <p:spPr>
          <a:xfrm>
            <a:off x="6316492" y="2240280"/>
            <a:ext cx="1453896" cy="502920"/>
          </a:xfrm>
          <a:prstGeom prst="rect">
            <a:avLst/>
          </a:prstGeom>
          <a:noFill/>
          <a:ln/>
        </p:spPr>
        <p:txBody>
          <a:bodyPr wrap="square" lIns="0" tIns="0" rIns="0" bIns="0" rtlCol="0" anchor="t"/>
          <a:lstStyle/>
          <a:p>
            <a:pPr indent="0" marL="0">
              <a:buNone/>
            </a:pPr>
            <a:r>
              <a:rPr lang="en-US" sz="1150" dirty="0">
                <a:solidFill>
                  <a:schemeClr val="bg2"/>
                </a:solidFill>
              </a:rPr>
              <a:t>Follow cross-references</a:t>
            </a:r>
            <a:endParaRPr lang="en-US" sz="1150" dirty="0"/>
          </a:p>
        </p:txBody>
      </p:sp>
      <p:sp>
        <p:nvSpPr>
          <p:cNvPr id="23" name="Text 21"/>
          <p:cNvSpPr txBox="1"/>
          <p:nvPr/>
        </p:nvSpPr>
        <p:spPr>
          <a:xfrm>
            <a:off x="7889260" y="1965960"/>
            <a:ext cx="166969" cy="36576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24" name="Workflow step 5"/>
          <p:cNvSpPr/>
          <p:nvPr/>
        </p:nvSpPr>
        <p:spPr>
          <a:xfrm>
            <a:off x="8056230" y="1600200"/>
            <a:ext cx="1709928" cy="1188720"/>
          </a:xfrm>
          <a:prstGeom prst="roundRect">
            <a:avLst>
              <a:gd name="adj" fmla="val 6154"/>
            </a:avLst>
          </a:prstGeom>
          <a:solidFill>
            <a:srgbClr val="202B3D"/>
          </a:solidFill>
          <a:ln w="9525">
            <a:solidFill>
              <a:srgbClr val="33405A"/>
            </a:solidFill>
            <a:prstDash val="solid"/>
          </a:ln>
        </p:spPr>
      </p:sp>
      <p:sp>
        <p:nvSpPr>
          <p:cNvPr id="25" name="Text 23"/>
          <p:cNvSpPr txBox="1"/>
          <p:nvPr/>
        </p:nvSpPr>
        <p:spPr>
          <a:xfrm>
            <a:off x="8193390" y="1691640"/>
            <a:ext cx="548640" cy="256032"/>
          </a:xfrm>
          <a:prstGeom prst="rect">
            <a:avLst/>
          </a:prstGeom>
          <a:noFill/>
          <a:ln/>
        </p:spPr>
        <p:txBody>
          <a:bodyPr wrap="square" lIns="0" tIns="0" rIns="0" bIns="0" rtlCol="0" anchor="ctr"/>
          <a:lstStyle/>
          <a:p>
            <a:pPr indent="0" marL="0">
              <a:buNone/>
            </a:pPr>
            <a:r>
              <a:rPr lang="en-US" sz="1300" dirty="0">
                <a:solidFill>
                  <a:schemeClr val="accent1"/>
                </a:solidFill>
                <a:latin typeface="Georgia" pitchFamily="34" charset="0"/>
                <a:ea typeface="Georgia" pitchFamily="34" charset="-122"/>
                <a:cs typeface="Georgia" pitchFamily="34" charset="-120"/>
              </a:rPr>
              <a:t>05</a:t>
            </a:r>
            <a:endParaRPr lang="en-US" sz="1300" dirty="0"/>
          </a:p>
        </p:txBody>
      </p:sp>
      <p:sp>
        <p:nvSpPr>
          <p:cNvPr id="26" name="Text 24"/>
          <p:cNvSpPr txBox="1"/>
          <p:nvPr/>
        </p:nvSpPr>
        <p:spPr>
          <a:xfrm>
            <a:off x="8193390" y="1947672"/>
            <a:ext cx="1435608" cy="292608"/>
          </a:xfrm>
          <a:prstGeom prst="rect">
            <a:avLst/>
          </a:prstGeom>
          <a:noFill/>
          <a:ln/>
        </p:spPr>
        <p:txBody>
          <a:bodyPr wrap="square" lIns="0" tIns="0" rIns="0" bIns="0" rtlCol="0" anchor="ctr"/>
          <a:lstStyle/>
          <a:p>
            <a:pPr indent="0" marL="0">
              <a:buNone/>
            </a:pPr>
            <a:r>
              <a:rPr lang="en-US" sz="1500" b="1" dirty="0">
                <a:solidFill>
                  <a:schemeClr val="bg1"/>
                </a:solidFill>
              </a:rPr>
              <a:t>Validate</a:t>
            </a:r>
            <a:endParaRPr lang="en-US" sz="1500" dirty="0"/>
          </a:p>
        </p:txBody>
      </p:sp>
      <p:sp>
        <p:nvSpPr>
          <p:cNvPr id="27" name="Text 25"/>
          <p:cNvSpPr txBox="1"/>
          <p:nvPr/>
        </p:nvSpPr>
        <p:spPr>
          <a:xfrm>
            <a:off x="8193390" y="2240280"/>
            <a:ext cx="1453896" cy="502920"/>
          </a:xfrm>
          <a:prstGeom prst="rect">
            <a:avLst/>
          </a:prstGeom>
          <a:noFill/>
          <a:ln/>
        </p:spPr>
        <p:txBody>
          <a:bodyPr wrap="square" lIns="0" tIns="0" rIns="0" bIns="0" rtlCol="0" anchor="t"/>
          <a:lstStyle/>
          <a:p>
            <a:pPr indent="0" marL="0">
              <a:buNone/>
            </a:pPr>
            <a:r>
              <a:rPr lang="en-US" sz="1150" dirty="0">
                <a:solidFill>
                  <a:schemeClr val="bg2"/>
                </a:solidFill>
              </a:rPr>
              <a:t>Sufficiency gate + quote check</a:t>
            </a:r>
            <a:endParaRPr lang="en-US" sz="1150" dirty="0"/>
          </a:p>
        </p:txBody>
      </p:sp>
      <p:sp>
        <p:nvSpPr>
          <p:cNvPr id="28" name="Text 26"/>
          <p:cNvSpPr txBox="1"/>
          <p:nvPr/>
        </p:nvSpPr>
        <p:spPr>
          <a:xfrm>
            <a:off x="9766158" y="1965960"/>
            <a:ext cx="166969" cy="36576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29" name="Workflow step 6"/>
          <p:cNvSpPr/>
          <p:nvPr/>
        </p:nvSpPr>
        <p:spPr>
          <a:xfrm>
            <a:off x="9933127" y="1600200"/>
            <a:ext cx="1709928" cy="1188720"/>
          </a:xfrm>
          <a:prstGeom prst="roundRect">
            <a:avLst>
              <a:gd name="adj" fmla="val 6154"/>
            </a:avLst>
          </a:prstGeom>
          <a:solidFill>
            <a:srgbClr val="2A2A22"/>
          </a:solidFill>
          <a:ln w="9525">
            <a:solidFill>
              <a:srgbClr val="C5A059"/>
            </a:solidFill>
            <a:prstDash val="solid"/>
          </a:ln>
        </p:spPr>
      </p:sp>
      <p:sp>
        <p:nvSpPr>
          <p:cNvPr id="30" name="Text 28"/>
          <p:cNvSpPr txBox="1"/>
          <p:nvPr/>
        </p:nvSpPr>
        <p:spPr>
          <a:xfrm>
            <a:off x="10070287" y="1691640"/>
            <a:ext cx="548640" cy="256032"/>
          </a:xfrm>
          <a:prstGeom prst="rect">
            <a:avLst/>
          </a:prstGeom>
          <a:noFill/>
          <a:ln/>
        </p:spPr>
        <p:txBody>
          <a:bodyPr wrap="square" lIns="0" tIns="0" rIns="0" bIns="0" rtlCol="0" anchor="ctr"/>
          <a:lstStyle/>
          <a:p>
            <a:pPr indent="0" marL="0">
              <a:buNone/>
            </a:pPr>
            <a:r>
              <a:rPr lang="en-US" sz="1300" dirty="0">
                <a:solidFill>
                  <a:schemeClr val="accent1"/>
                </a:solidFill>
                <a:latin typeface="Georgia" pitchFamily="34" charset="0"/>
                <a:ea typeface="Georgia" pitchFamily="34" charset="-122"/>
                <a:cs typeface="Georgia" pitchFamily="34" charset="-120"/>
              </a:rPr>
              <a:t>06</a:t>
            </a:r>
            <a:endParaRPr lang="en-US" sz="1300" dirty="0"/>
          </a:p>
        </p:txBody>
      </p:sp>
      <p:sp>
        <p:nvSpPr>
          <p:cNvPr id="31" name="Text 29"/>
          <p:cNvSpPr txBox="1"/>
          <p:nvPr/>
        </p:nvSpPr>
        <p:spPr>
          <a:xfrm>
            <a:off x="10070287" y="1947672"/>
            <a:ext cx="1435608" cy="292608"/>
          </a:xfrm>
          <a:prstGeom prst="rect">
            <a:avLst/>
          </a:prstGeom>
          <a:noFill/>
          <a:ln/>
        </p:spPr>
        <p:txBody>
          <a:bodyPr wrap="square" lIns="0" tIns="0" rIns="0" bIns="0" rtlCol="0" anchor="ctr"/>
          <a:lstStyle/>
          <a:p>
            <a:pPr indent="0" marL="0">
              <a:buNone/>
            </a:pPr>
            <a:r>
              <a:rPr lang="en-US" sz="1500" b="1" dirty="0">
                <a:solidFill>
                  <a:schemeClr val="bg1"/>
                </a:solidFill>
              </a:rPr>
              <a:t>Respond</a:t>
            </a:r>
            <a:endParaRPr lang="en-US" sz="1500" dirty="0"/>
          </a:p>
        </p:txBody>
      </p:sp>
      <p:sp>
        <p:nvSpPr>
          <p:cNvPr id="32" name="Text 30"/>
          <p:cNvSpPr txBox="1"/>
          <p:nvPr/>
        </p:nvSpPr>
        <p:spPr>
          <a:xfrm>
            <a:off x="10070287" y="2240280"/>
            <a:ext cx="1453896" cy="502920"/>
          </a:xfrm>
          <a:prstGeom prst="rect">
            <a:avLst/>
          </a:prstGeom>
          <a:noFill/>
          <a:ln/>
        </p:spPr>
        <p:txBody>
          <a:bodyPr wrap="square" lIns="0" tIns="0" rIns="0" bIns="0" rtlCol="0" anchor="t"/>
          <a:lstStyle/>
          <a:p>
            <a:pPr indent="0" marL="0">
              <a:buNone/>
            </a:pPr>
            <a:r>
              <a:rPr lang="en-US" sz="1150" dirty="0">
                <a:solidFill>
                  <a:schemeClr val="bg2"/>
                </a:solidFill>
              </a:rPr>
              <a:t>Cited answer — or abstain</a:t>
            </a:r>
            <a:endParaRPr lang="en-US" sz="1150" dirty="0"/>
          </a:p>
        </p:txBody>
      </p:sp>
      <p:pic>
        <p:nvPicPr>
          <p:cNvPr id="33" name="Screenshot contract workspace" descr="C:\Prabhav\Hacknex26\presentation\assets\screenshots\03_answer_supported_detail.png">    </p:cNvPr>
          <p:cNvPicPr>
            <a:picLocks noChangeAspect="1"/>
          </p:cNvPicPr>
          <p:nvPr/>
        </p:nvPicPr>
        <p:blipFill>
          <a:blip r:embed="rId1"/>
          <a:stretch>
            <a:fillRect/>
          </a:stretch>
        </p:blipFill>
        <p:spPr>
          <a:xfrm>
            <a:off x="548640" y="2999232"/>
            <a:ext cx="5431536" cy="3054096"/>
          </a:xfrm>
          <a:prstGeom prst="rect">
            <a:avLst/>
          </a:prstGeom>
          <a:effectLst>
            <a:outerShdw sx="100000" sy="100000" kx="0" ky="0" algn="bl" rotWithShape="0" blurRad="127000" dist="38100" dir="5400000">
              <a:srgbClr val="000000">
                <a:alpha val="50000"/>
              </a:srgbClr>
            </a:outerShdw>
          </a:effectLst>
        </p:spPr>
      </p:pic>
      <p:sp>
        <p:nvSpPr>
          <p:cNvPr id="34" name="Text 31"/>
          <p:cNvSpPr txBox="1"/>
          <p:nvPr/>
        </p:nvSpPr>
        <p:spPr>
          <a:xfrm>
            <a:off x="548640" y="6089904"/>
            <a:ext cx="5486400" cy="201168"/>
          </a:xfrm>
          <a:prstGeom prst="rect">
            <a:avLst/>
          </a:prstGeom>
          <a:noFill/>
          <a:ln/>
        </p:spPr>
        <p:txBody>
          <a:bodyPr wrap="square" lIns="0" tIns="0" rIns="0" bIns="0" rtlCol="0" anchor="ctr"/>
          <a:lstStyle/>
          <a:p>
            <a:pPr indent="0" marL="0">
              <a:buNone/>
            </a:pPr>
            <a:r>
              <a:rPr lang="en-US" sz="950" i="1" dirty="0">
                <a:solidFill>
                  <a:schemeClr val="bg2"/>
                </a:solidFill>
              </a:rPr>
              <a:t>Live product — Contract Workspace, captured 9 Oct 2026</a:t>
            </a:r>
            <a:endParaRPr lang="en-US" sz="950" dirty="0"/>
          </a:p>
        </p:txBody>
      </p:sp>
      <p:sp>
        <p:nvSpPr>
          <p:cNvPr id="35" name="Step 1"/>
          <p:cNvSpPr/>
          <p:nvPr/>
        </p:nvSpPr>
        <p:spPr>
          <a:xfrm>
            <a:off x="6675120" y="3154680"/>
            <a:ext cx="384048" cy="384048"/>
          </a:xfrm>
          <a:prstGeom prst="ellipse">
            <a:avLst/>
          </a:prstGeom>
          <a:solidFill>
            <a:srgbClr val="080C15"/>
          </a:solidFill>
          <a:ln w="15875">
            <a:solidFill>
              <a:srgbClr val="C5A059"/>
            </a:solidFill>
            <a:prstDash val="solid"/>
          </a:ln>
        </p:spPr>
      </p:sp>
      <p:sp>
        <p:nvSpPr>
          <p:cNvPr id="36" name="Text 33"/>
          <p:cNvSpPr txBox="1"/>
          <p:nvPr/>
        </p:nvSpPr>
        <p:spPr>
          <a:xfrm>
            <a:off x="6675120" y="3154680"/>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1</a:t>
            </a:r>
            <a:endParaRPr lang="en-US" sz="1400" dirty="0"/>
          </a:p>
        </p:txBody>
      </p:sp>
      <p:sp>
        <p:nvSpPr>
          <p:cNvPr id="37" name="Text 34"/>
          <p:cNvSpPr txBox="1"/>
          <p:nvPr/>
        </p:nvSpPr>
        <p:spPr>
          <a:xfrm>
            <a:off x="7269480" y="3136392"/>
            <a:ext cx="4343400" cy="310896"/>
          </a:xfrm>
          <a:prstGeom prst="rect">
            <a:avLst/>
          </a:prstGeom>
          <a:noFill/>
          <a:ln/>
        </p:spPr>
        <p:txBody>
          <a:bodyPr wrap="square" lIns="0" tIns="0" rIns="0" bIns="0" rtlCol="0" anchor="ctr"/>
          <a:lstStyle/>
          <a:p>
            <a:pPr indent="0" marL="0">
              <a:buNone/>
            </a:pPr>
            <a:r>
              <a:rPr lang="en-US" sz="1600" b="1" dirty="0">
                <a:solidFill>
                  <a:schemeClr val="bg1"/>
                </a:solidFill>
              </a:rPr>
              <a:t>Status in words, not just colour</a:t>
            </a:r>
            <a:endParaRPr lang="en-US" sz="1600" dirty="0"/>
          </a:p>
        </p:txBody>
      </p:sp>
      <p:sp>
        <p:nvSpPr>
          <p:cNvPr id="38" name="Text 35"/>
          <p:cNvSpPr txBox="1"/>
          <p:nvPr/>
        </p:nvSpPr>
        <p:spPr>
          <a:xfrm>
            <a:off x="7269480" y="3465576"/>
            <a:ext cx="4343400" cy="548640"/>
          </a:xfrm>
          <a:prstGeom prst="rect">
            <a:avLst/>
          </a:prstGeom>
          <a:noFill/>
          <a:ln/>
        </p:spPr>
        <p:txBody>
          <a:bodyPr wrap="square" lIns="0" tIns="0" rIns="0" bIns="0" rtlCol="0" anchor="t"/>
          <a:lstStyle/>
          <a:p>
            <a:pPr indent="0" marL="0">
              <a:buNone/>
            </a:pPr>
            <a:r>
              <a:rPr lang="en-US" sz="1400" dirty="0">
                <a:solidFill>
                  <a:schemeClr val="bg2"/>
                </a:solidFill>
              </a:rPr>
              <a:t>“SUPPORTED · Fully Grounded” or “INSUFFICIENT · Evidence Not Established”.</a:t>
            </a:r>
            <a:endParaRPr lang="en-US" sz="1400" dirty="0"/>
          </a:p>
        </p:txBody>
      </p:sp>
      <p:sp>
        <p:nvSpPr>
          <p:cNvPr id="39" name="Step 2"/>
          <p:cNvSpPr/>
          <p:nvPr/>
        </p:nvSpPr>
        <p:spPr>
          <a:xfrm>
            <a:off x="6675120" y="4178808"/>
            <a:ext cx="384048" cy="384048"/>
          </a:xfrm>
          <a:prstGeom prst="ellipse">
            <a:avLst/>
          </a:prstGeom>
          <a:solidFill>
            <a:srgbClr val="080C15"/>
          </a:solidFill>
          <a:ln w="15875">
            <a:solidFill>
              <a:srgbClr val="C5A059"/>
            </a:solidFill>
            <a:prstDash val="solid"/>
          </a:ln>
        </p:spPr>
      </p:sp>
      <p:sp>
        <p:nvSpPr>
          <p:cNvPr id="40" name="Text 37"/>
          <p:cNvSpPr txBox="1"/>
          <p:nvPr/>
        </p:nvSpPr>
        <p:spPr>
          <a:xfrm>
            <a:off x="6675120" y="4178808"/>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2</a:t>
            </a:r>
            <a:endParaRPr lang="en-US" sz="1400" dirty="0"/>
          </a:p>
        </p:txBody>
      </p:sp>
      <p:sp>
        <p:nvSpPr>
          <p:cNvPr id="41" name="Text 38"/>
          <p:cNvSpPr txBox="1"/>
          <p:nvPr/>
        </p:nvSpPr>
        <p:spPr>
          <a:xfrm>
            <a:off x="7269480" y="4160520"/>
            <a:ext cx="4343400" cy="310896"/>
          </a:xfrm>
          <a:prstGeom prst="rect">
            <a:avLst/>
          </a:prstGeom>
          <a:noFill/>
          <a:ln/>
        </p:spPr>
        <p:txBody>
          <a:bodyPr wrap="square" lIns="0" tIns="0" rIns="0" bIns="0" rtlCol="0" anchor="ctr"/>
          <a:lstStyle/>
          <a:p>
            <a:pPr indent="0" marL="0">
              <a:buNone/>
            </a:pPr>
            <a:r>
              <a:rPr lang="en-US" sz="1600" b="1" dirty="0">
                <a:solidFill>
                  <a:schemeClr val="bg1"/>
                </a:solidFill>
              </a:rPr>
              <a:t>Exact evidence, with its location</a:t>
            </a:r>
            <a:endParaRPr lang="en-US" sz="1600" dirty="0"/>
          </a:p>
        </p:txBody>
      </p:sp>
      <p:sp>
        <p:nvSpPr>
          <p:cNvPr id="42" name="Text 39"/>
          <p:cNvSpPr txBox="1"/>
          <p:nvPr/>
        </p:nvSpPr>
        <p:spPr>
          <a:xfrm>
            <a:off x="7269480" y="4489704"/>
            <a:ext cx="4343400" cy="548640"/>
          </a:xfrm>
          <a:prstGeom prst="rect">
            <a:avLst/>
          </a:prstGeom>
          <a:noFill/>
          <a:ln/>
        </p:spPr>
        <p:txBody>
          <a:bodyPr wrap="square" lIns="0" tIns="0" rIns="0" bIns="0" rtlCol="0" anchor="t"/>
          <a:lstStyle/>
          <a:p>
            <a:pPr indent="0" marL="0">
              <a:buNone/>
            </a:pPr>
            <a:r>
              <a:rPr lang="en-US" sz="1400" dirty="0">
                <a:solidFill>
                  <a:schemeClr val="bg2"/>
                </a:solidFill>
              </a:rPr>
              <a:t>The quoted span, the document and the section path.</a:t>
            </a:r>
            <a:endParaRPr lang="en-US" sz="1400" dirty="0"/>
          </a:p>
        </p:txBody>
      </p:sp>
      <p:sp>
        <p:nvSpPr>
          <p:cNvPr id="43" name="Step 3"/>
          <p:cNvSpPr/>
          <p:nvPr/>
        </p:nvSpPr>
        <p:spPr>
          <a:xfrm>
            <a:off x="6675120" y="5202936"/>
            <a:ext cx="384048" cy="384048"/>
          </a:xfrm>
          <a:prstGeom prst="ellipse">
            <a:avLst/>
          </a:prstGeom>
          <a:solidFill>
            <a:srgbClr val="080C15"/>
          </a:solidFill>
          <a:ln w="15875">
            <a:solidFill>
              <a:srgbClr val="C5A059"/>
            </a:solidFill>
            <a:prstDash val="solid"/>
          </a:ln>
        </p:spPr>
      </p:sp>
      <p:sp>
        <p:nvSpPr>
          <p:cNvPr id="44" name="Text 41"/>
          <p:cNvSpPr txBox="1"/>
          <p:nvPr/>
        </p:nvSpPr>
        <p:spPr>
          <a:xfrm>
            <a:off x="6675120" y="5202936"/>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3</a:t>
            </a:r>
            <a:endParaRPr lang="en-US" sz="1400" dirty="0"/>
          </a:p>
        </p:txBody>
      </p:sp>
      <p:sp>
        <p:nvSpPr>
          <p:cNvPr id="45" name="Text 42"/>
          <p:cNvSpPr txBox="1"/>
          <p:nvPr/>
        </p:nvSpPr>
        <p:spPr>
          <a:xfrm>
            <a:off x="7269480" y="5184648"/>
            <a:ext cx="4343400" cy="310896"/>
          </a:xfrm>
          <a:prstGeom prst="rect">
            <a:avLst/>
          </a:prstGeom>
          <a:noFill/>
          <a:ln/>
        </p:spPr>
        <p:txBody>
          <a:bodyPr wrap="square" lIns="0" tIns="0" rIns="0" bIns="0" rtlCol="0" anchor="ctr"/>
          <a:lstStyle/>
          <a:p>
            <a:pPr indent="0" marL="0">
              <a:buNone/>
            </a:pPr>
            <a:r>
              <a:rPr lang="en-US" sz="1600" b="1" dirty="0">
                <a:solidFill>
                  <a:schemeClr val="bg1"/>
                </a:solidFill>
              </a:rPr>
              <a:t>From finding to draft</a:t>
            </a:r>
            <a:endParaRPr lang="en-US" sz="1600" dirty="0"/>
          </a:p>
        </p:txBody>
      </p:sp>
      <p:sp>
        <p:nvSpPr>
          <p:cNvPr id="46" name="Text 43"/>
          <p:cNvSpPr txBox="1"/>
          <p:nvPr/>
        </p:nvSpPr>
        <p:spPr>
          <a:xfrm>
            <a:off x="7269480" y="5513832"/>
            <a:ext cx="4343400" cy="548640"/>
          </a:xfrm>
          <a:prstGeom prst="rect">
            <a:avLst/>
          </a:prstGeom>
          <a:noFill/>
          <a:ln/>
        </p:spPr>
        <p:txBody>
          <a:bodyPr wrap="square" lIns="0" tIns="0" rIns="0" bIns="0" rtlCol="0" anchor="t"/>
          <a:lstStyle/>
          <a:p>
            <a:pPr indent="0" marL="0">
              <a:buNone/>
            </a:pPr>
            <a:r>
              <a:rPr lang="en-US" sz="1400" dirty="0">
                <a:solidFill>
                  <a:schemeClr val="bg2"/>
                </a:solidFill>
              </a:rPr>
              <a:t>One click opens a notice draft labelled for lawyer review.</a:t>
            </a:r>
            <a:endParaRPr lang="en-US" sz="14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LIVE DEMO</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A contract it has never seen</a:t>
            </a:r>
            <a:endParaRPr lang="en-US" sz="32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300" dirty="0">
                <a:solidFill>
                  <a:schemeClr val="bg2"/>
                </a:solidFill>
              </a:rPr>
              <a:t>UNSEEN-LOGISTICS-001  ·  synthetic cold-chain pharmaceutical logistics agreement  ·  uploaded during the demo, questions scoped to this document</a:t>
            </a:r>
            <a:endParaRPr lang="en-US" sz="1300" dirty="0"/>
          </a:p>
        </p:txBody>
      </p:sp>
      <p:sp>
        <p:nvSpPr>
          <p:cNvPr id="5" name="Demo step 1 sheet"/>
          <p:cNvSpPr/>
          <p:nvPr/>
        </p:nvSpPr>
        <p:spPr>
          <a:xfrm>
            <a:off x="548640" y="1783080"/>
            <a:ext cx="6720840" cy="4343400"/>
          </a:xfrm>
          <a:prstGeom prst="roundRect">
            <a:avLst>
              <a:gd name="adj" fmla="val 1263"/>
            </a:avLst>
          </a:prstGeom>
          <a:solidFill>
            <a:srgbClr val="F4F0E8"/>
          </a:solidFill>
          <a:ln w="9525">
            <a:solidFill>
              <a:srgbClr val="D8D0BF"/>
            </a:solidFill>
            <a:prstDash val="solid"/>
          </a:ln>
          <a:effectLst>
            <a:outerShdw sx="100000" sy="100000" kx="0" ky="0" algn="bl" rotWithShape="0" blurRad="152400" dist="50800" dir="5400000">
              <a:srgbClr val="000000">
                <a:alpha val="45000"/>
              </a:srgbClr>
            </a:outerShdw>
          </a:effectLst>
        </p:spPr>
      </p:sp>
      <p:sp>
        <p:nvSpPr>
          <p:cNvPr id="6" name="Text 4"/>
          <p:cNvSpPr txBox="1"/>
          <p:nvPr/>
        </p:nvSpPr>
        <p:spPr>
          <a:xfrm>
            <a:off x="822960" y="1938528"/>
            <a:ext cx="3657600" cy="256032"/>
          </a:xfrm>
          <a:prstGeom prst="rect">
            <a:avLst/>
          </a:prstGeom>
          <a:noFill/>
          <a:ln/>
        </p:spPr>
        <p:txBody>
          <a:bodyPr wrap="square" lIns="0" tIns="0" rIns="0" bIns="0" rtlCol="0" anchor="ctr"/>
          <a:lstStyle/>
          <a:p>
            <a:pPr indent="0" marL="0">
              <a:buNone/>
            </a:pPr>
            <a:r>
              <a:rPr lang="en-US" sz="1050" b="1" spc="200" kern="0" dirty="0">
                <a:solidFill>
                  <a:srgbClr val="8A6A2C"/>
                </a:solidFill>
              </a:rPr>
              <a:t>1 · CROSS-CLAUSE QUESTION</a:t>
            </a:r>
            <a:endParaRPr lang="en-US" sz="1050" dirty="0"/>
          </a:p>
        </p:txBody>
      </p:sp>
      <p:sp>
        <p:nvSpPr>
          <p:cNvPr id="7" name="Chip SUPPORTED"/>
          <p:cNvSpPr/>
          <p:nvPr/>
        </p:nvSpPr>
        <p:spPr>
          <a:xfrm>
            <a:off x="5760720" y="1901952"/>
            <a:ext cx="1275588" cy="292608"/>
          </a:xfrm>
          <a:prstGeom prst="roundRect">
            <a:avLst>
              <a:gd name="adj" fmla="val 50000"/>
            </a:avLst>
          </a:prstGeom>
          <a:solidFill>
            <a:srgbClr val="4CB58A">
              <a:alpha val="18000"/>
            </a:srgbClr>
          </a:solidFill>
          <a:ln w="12700">
            <a:solidFill>
              <a:srgbClr val="4CB58A"/>
            </a:solidFill>
            <a:prstDash val="solid"/>
          </a:ln>
        </p:spPr>
      </p:sp>
      <p:sp>
        <p:nvSpPr>
          <p:cNvPr id="8" name="Text 6"/>
          <p:cNvSpPr txBox="1"/>
          <p:nvPr/>
        </p:nvSpPr>
        <p:spPr>
          <a:xfrm>
            <a:off x="5760720" y="1901952"/>
            <a:ext cx="1275588" cy="292608"/>
          </a:xfrm>
          <a:prstGeom prst="rect">
            <a:avLst/>
          </a:prstGeom>
          <a:noFill/>
          <a:ln/>
        </p:spPr>
        <p:txBody>
          <a:bodyPr wrap="square" lIns="0" tIns="0" rIns="0" bIns="0" rtlCol="0" anchor="ctr"/>
          <a:lstStyle/>
          <a:p>
            <a:pPr algn="ctr" indent="0" marL="0">
              <a:buNone/>
            </a:pPr>
            <a:r>
              <a:rPr lang="en-US" sz="1050" b="1" spc="100" kern="0" dirty="0">
                <a:solidFill>
                  <a:srgbClr val="2E8A64"/>
                </a:solidFill>
              </a:rPr>
              <a:t>SUPPORTED</a:t>
            </a:r>
            <a:endParaRPr lang="en-US" sz="1050" dirty="0"/>
          </a:p>
        </p:txBody>
      </p:sp>
      <p:sp>
        <p:nvSpPr>
          <p:cNvPr id="9" name="Text 7"/>
          <p:cNvSpPr txBox="1"/>
          <p:nvPr/>
        </p:nvSpPr>
        <p:spPr>
          <a:xfrm>
            <a:off x="822960" y="2240280"/>
            <a:ext cx="6172200" cy="640080"/>
          </a:xfrm>
          <a:prstGeom prst="rect">
            <a:avLst/>
          </a:prstGeom>
          <a:noFill/>
          <a:ln/>
        </p:spPr>
        <p:txBody>
          <a:bodyPr wrap="square" lIns="0" tIns="0" rIns="0" bIns="0" rtlCol="0" anchor="t"/>
          <a:lstStyle/>
          <a:p>
            <a:pPr indent="0" marL="0">
              <a:buNone/>
            </a:pPr>
            <a:r>
              <a:rPr lang="en-US" sz="1500" i="1" dirty="0">
                <a:solidFill>
                  <a:srgbClr val="1A2232"/>
                </a:solidFill>
                <a:latin typeface="Georgia" pitchFamily="34" charset="0"/>
                <a:ea typeface="Georgia" pitchFamily="34" charset="-122"/>
                <a:cs typeface="Georgia" pitchFamily="34" charset="-120"/>
              </a:rPr>
              <a:t>“Is the service provider liable for spoilage of temperature sensitive goods when customs detention delays delivery?”</a:t>
            </a:r>
            <a:endParaRPr lang="en-US" sz="1500" dirty="0"/>
          </a:p>
        </p:txBody>
      </p:sp>
      <p:sp>
        <p:nvSpPr>
          <p:cNvPr id="10" name="Quote §2.2"/>
          <p:cNvSpPr/>
          <p:nvPr/>
        </p:nvSpPr>
        <p:spPr>
          <a:xfrm>
            <a:off x="822960" y="2944368"/>
            <a:ext cx="6172200" cy="841248"/>
          </a:xfrm>
          <a:prstGeom prst="roundRect">
            <a:avLst>
              <a:gd name="adj" fmla="val 5435"/>
            </a:avLst>
          </a:prstGeom>
          <a:solidFill>
            <a:srgbClr val="EAE4D7"/>
          </a:solidFill>
          <a:ln w="9525">
            <a:solidFill>
              <a:srgbClr val="D3C9B4"/>
            </a:solidFill>
            <a:prstDash val="solid"/>
          </a:ln>
        </p:spPr>
      </p:sp>
      <p:sp>
        <p:nvSpPr>
          <p:cNvPr id="11" name="Text 9"/>
          <p:cNvSpPr txBox="1"/>
          <p:nvPr/>
        </p:nvSpPr>
        <p:spPr>
          <a:xfrm>
            <a:off x="932688" y="3035808"/>
            <a:ext cx="566928" cy="274320"/>
          </a:xfrm>
          <a:prstGeom prst="rect">
            <a:avLst/>
          </a:prstGeom>
          <a:noFill/>
          <a:ln/>
        </p:spPr>
        <p:txBody>
          <a:bodyPr wrap="square" lIns="0" tIns="0" rIns="0" bIns="0" rtlCol="0" anchor="ctr"/>
          <a:lstStyle/>
          <a:p>
            <a:pPr indent="0" marL="0">
              <a:buNone/>
            </a:pPr>
            <a:r>
              <a:rPr lang="en-US" sz="1200" b="1" dirty="0">
                <a:solidFill>
                  <a:srgbClr val="8A6A2C"/>
                </a:solidFill>
                <a:latin typeface="Consolas" pitchFamily="34" charset="0"/>
                <a:ea typeface="Consolas" pitchFamily="34" charset="-122"/>
                <a:cs typeface="Consolas" pitchFamily="34" charset="-120"/>
              </a:rPr>
              <a:t>§2.2</a:t>
            </a:r>
            <a:endParaRPr lang="en-US" sz="1200" dirty="0"/>
          </a:p>
        </p:txBody>
      </p:sp>
      <p:sp>
        <p:nvSpPr>
          <p:cNvPr id="12" name="Text 10"/>
          <p:cNvSpPr txBox="1"/>
          <p:nvPr/>
        </p:nvSpPr>
        <p:spPr>
          <a:xfrm>
            <a:off x="1508760" y="3008376"/>
            <a:ext cx="5376672" cy="731520"/>
          </a:xfrm>
          <a:prstGeom prst="rect">
            <a:avLst/>
          </a:prstGeom>
          <a:noFill/>
          <a:ln/>
        </p:spPr>
        <p:txBody>
          <a:bodyPr wrap="square" lIns="0" tIns="0" rIns="0" bIns="0" rtlCol="0" anchor="t"/>
          <a:lstStyle/>
          <a:p>
            <a:pPr indent="0" marL="0">
              <a:buNone/>
            </a:pPr>
            <a:r>
              <a:rPr lang="en-US" sz="1250" dirty="0">
                <a:solidFill>
                  <a:srgbClr val="1A2232"/>
                </a:solidFill>
              </a:rPr>
              <a:t>“Subject to Section 2.3, Service Provider shall not be liable for delivery delays attributable to port customs clearance operations.”</a:t>
            </a:r>
            <a:endParaRPr lang="en-US" sz="1250" dirty="0"/>
          </a:p>
        </p:txBody>
      </p:sp>
      <p:sp>
        <p:nvSpPr>
          <p:cNvPr id="13" name="Quote §2.3"/>
          <p:cNvSpPr/>
          <p:nvPr/>
        </p:nvSpPr>
        <p:spPr>
          <a:xfrm>
            <a:off x="822960" y="3858768"/>
            <a:ext cx="6172200" cy="841248"/>
          </a:xfrm>
          <a:prstGeom prst="roundRect">
            <a:avLst>
              <a:gd name="adj" fmla="val 5435"/>
            </a:avLst>
          </a:prstGeom>
          <a:solidFill>
            <a:srgbClr val="EAE4D7"/>
          </a:solidFill>
          <a:ln w="9525">
            <a:solidFill>
              <a:srgbClr val="D3C9B4"/>
            </a:solidFill>
            <a:prstDash val="solid"/>
          </a:ln>
        </p:spPr>
      </p:sp>
      <p:sp>
        <p:nvSpPr>
          <p:cNvPr id="14" name="Text 12"/>
          <p:cNvSpPr txBox="1"/>
          <p:nvPr/>
        </p:nvSpPr>
        <p:spPr>
          <a:xfrm>
            <a:off x="932688" y="3950208"/>
            <a:ext cx="566928" cy="274320"/>
          </a:xfrm>
          <a:prstGeom prst="rect">
            <a:avLst/>
          </a:prstGeom>
          <a:noFill/>
          <a:ln/>
        </p:spPr>
        <p:txBody>
          <a:bodyPr wrap="square" lIns="0" tIns="0" rIns="0" bIns="0" rtlCol="0" anchor="ctr"/>
          <a:lstStyle/>
          <a:p>
            <a:pPr indent="0" marL="0">
              <a:buNone/>
            </a:pPr>
            <a:r>
              <a:rPr lang="en-US" sz="1200" b="1" dirty="0">
                <a:solidFill>
                  <a:srgbClr val="8A6A2C"/>
                </a:solidFill>
                <a:latin typeface="Consolas" pitchFamily="34" charset="0"/>
                <a:ea typeface="Consolas" pitchFamily="34" charset="-122"/>
                <a:cs typeface="Consolas" pitchFamily="34" charset="-120"/>
              </a:rPr>
              <a:t>§2.3</a:t>
            </a:r>
            <a:endParaRPr lang="en-US" sz="1200" dirty="0"/>
          </a:p>
        </p:txBody>
      </p:sp>
      <p:sp>
        <p:nvSpPr>
          <p:cNvPr id="15" name="Text 13"/>
          <p:cNvSpPr txBox="1"/>
          <p:nvPr/>
        </p:nvSpPr>
        <p:spPr>
          <a:xfrm>
            <a:off x="1508760" y="3922776"/>
            <a:ext cx="5376672" cy="731520"/>
          </a:xfrm>
          <a:prstGeom prst="rect">
            <a:avLst/>
          </a:prstGeom>
          <a:noFill/>
          <a:ln/>
        </p:spPr>
        <p:txBody>
          <a:bodyPr wrap="square" lIns="0" tIns="0" rIns="0" bIns="0" rtlCol="0" anchor="t"/>
          <a:lstStyle/>
          <a:p>
            <a:pPr indent="0" marL="0">
              <a:buNone/>
            </a:pPr>
            <a:r>
              <a:rPr lang="en-US" sz="1250" dirty="0">
                <a:solidFill>
                  <a:srgbClr val="1A2232"/>
                </a:solidFill>
              </a:rPr>
              <a:t>“Notwithstanding Section 2.2, … shall remain strictly liable for consignment spoilage exceeding four (4) hours beyond the scheduled delivery window regardless of customs detention.”</a:t>
            </a:r>
            <a:endParaRPr lang="en-US" sz="1250" dirty="0"/>
          </a:p>
        </p:txBody>
      </p:sp>
      <p:sp>
        <p:nvSpPr>
          <p:cNvPr id="16" name="Chip DETECTED: §2.3 OVERRIDES §2.2"/>
          <p:cNvSpPr/>
          <p:nvPr/>
        </p:nvSpPr>
        <p:spPr>
          <a:xfrm>
            <a:off x="822960" y="4846320"/>
            <a:ext cx="3195828" cy="292608"/>
          </a:xfrm>
          <a:prstGeom prst="roundRect">
            <a:avLst>
              <a:gd name="adj" fmla="val 50000"/>
            </a:avLst>
          </a:prstGeom>
          <a:solidFill>
            <a:srgbClr val="8A6A2C">
              <a:alpha val="18000"/>
            </a:srgbClr>
          </a:solidFill>
          <a:ln w="12700">
            <a:solidFill>
              <a:srgbClr val="8A6A2C"/>
            </a:solidFill>
            <a:prstDash val="solid"/>
          </a:ln>
        </p:spPr>
      </p:sp>
      <p:sp>
        <p:nvSpPr>
          <p:cNvPr id="17" name="Text 15"/>
          <p:cNvSpPr txBox="1"/>
          <p:nvPr/>
        </p:nvSpPr>
        <p:spPr>
          <a:xfrm>
            <a:off x="822960" y="4846320"/>
            <a:ext cx="3195828" cy="292608"/>
          </a:xfrm>
          <a:prstGeom prst="rect">
            <a:avLst/>
          </a:prstGeom>
          <a:noFill/>
          <a:ln/>
        </p:spPr>
        <p:txBody>
          <a:bodyPr wrap="square" lIns="0" tIns="0" rIns="0" bIns="0" rtlCol="0" anchor="ctr"/>
          <a:lstStyle/>
          <a:p>
            <a:pPr algn="ctr" indent="0" marL="0">
              <a:buNone/>
            </a:pPr>
            <a:r>
              <a:rPr lang="en-US" sz="1050" b="1" spc="100" kern="0" dirty="0">
                <a:solidFill>
                  <a:srgbClr val="8A6A2C"/>
                </a:solidFill>
              </a:rPr>
              <a:t>DETECTED: §2.3 OVERRIDES §2.2</a:t>
            </a:r>
            <a:endParaRPr lang="en-US" sz="1050" dirty="0"/>
          </a:p>
        </p:txBody>
      </p:sp>
      <p:sp>
        <p:nvSpPr>
          <p:cNvPr id="18" name="Text 16"/>
          <p:cNvSpPr txBox="1"/>
          <p:nvPr/>
        </p:nvSpPr>
        <p:spPr>
          <a:xfrm>
            <a:off x="822960" y="5257800"/>
            <a:ext cx="6172200" cy="685800"/>
          </a:xfrm>
          <a:prstGeom prst="rect">
            <a:avLst/>
          </a:prstGeom>
          <a:noFill/>
          <a:ln/>
        </p:spPr>
        <p:txBody>
          <a:bodyPr wrap="square" lIns="0" tIns="0" rIns="0" bIns="0" rtlCol="0" anchor="t"/>
          <a:lstStyle/>
          <a:p>
            <a:pPr indent="0" marL="0">
              <a:buNone/>
            </a:pPr>
            <a:r>
              <a:rPr lang="en-US" sz="1400" b="1" dirty="0">
                <a:solidFill>
                  <a:srgbClr val="1A2232"/>
                </a:solidFill>
              </a:rPr>
              <a:t>Customs delays are excused in general — but not spoilage of temperature-sensitive goods beyond four hours.</a:t>
            </a:r>
            <a:endParaRPr lang="en-US" sz="1400" dirty="0"/>
          </a:p>
        </p:txBody>
      </p:sp>
      <p:sp>
        <p:nvSpPr>
          <p:cNvPr id="19" name="Demo step 2 card"/>
          <p:cNvSpPr/>
          <p:nvPr/>
        </p:nvSpPr>
        <p:spPr>
          <a:xfrm>
            <a:off x="7498080" y="1783080"/>
            <a:ext cx="4142232" cy="2697480"/>
          </a:xfrm>
          <a:prstGeom prst="roundRect">
            <a:avLst>
              <a:gd name="adj" fmla="val 2712"/>
            </a:avLst>
          </a:prstGeom>
          <a:solidFill>
            <a:srgbClr val="202B3D"/>
          </a:solidFill>
          <a:ln w="9525">
            <a:solidFill>
              <a:srgbClr val="33405A"/>
            </a:solidFill>
            <a:prstDash val="solid"/>
          </a:ln>
        </p:spPr>
      </p:sp>
      <p:sp>
        <p:nvSpPr>
          <p:cNvPr id="20" name="Text 18"/>
          <p:cNvSpPr txBox="1"/>
          <p:nvPr/>
        </p:nvSpPr>
        <p:spPr>
          <a:xfrm>
            <a:off x="7726680" y="1938528"/>
            <a:ext cx="374904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2 · OUT-OF-SCOPE QUESTION</a:t>
            </a:r>
            <a:endParaRPr lang="en-US" sz="1050" dirty="0"/>
          </a:p>
        </p:txBody>
      </p:sp>
      <p:sp>
        <p:nvSpPr>
          <p:cNvPr id="21" name="Text 19"/>
          <p:cNvSpPr txBox="1"/>
          <p:nvPr/>
        </p:nvSpPr>
        <p:spPr>
          <a:xfrm>
            <a:off x="7726680" y="2267712"/>
            <a:ext cx="3703320" cy="868680"/>
          </a:xfrm>
          <a:prstGeom prst="rect">
            <a:avLst/>
          </a:prstGeom>
          <a:noFill/>
          <a:ln/>
        </p:spPr>
        <p:txBody>
          <a:bodyPr wrap="square" lIns="0" tIns="0" rIns="0" bIns="0" rtlCol="0" anchor="t"/>
          <a:lstStyle/>
          <a:p>
            <a:pPr indent="0" marL="0">
              <a:buNone/>
            </a:pPr>
            <a:r>
              <a:rPr lang="en-US" sz="1400" i="1" dirty="0">
                <a:solidFill>
                  <a:schemeClr val="bg1"/>
                </a:solidFill>
                <a:latin typeface="Georgia" pitchFamily="34" charset="0"/>
                <a:ea typeface="Georgia" pitchFamily="34" charset="-122"/>
                <a:cs typeface="Georgia" pitchFamily="34" charset="-120"/>
              </a:rPr>
              <a:t>“What are the aircraft hangar maintenance guidelines and hazardous chemical disposal protocols?”</a:t>
            </a:r>
            <a:endParaRPr lang="en-US" sz="1400" dirty="0"/>
          </a:p>
        </p:txBody>
      </p:sp>
      <p:sp>
        <p:nvSpPr>
          <p:cNvPr id="22" name="Chip INSUFFICIENT"/>
          <p:cNvSpPr/>
          <p:nvPr/>
        </p:nvSpPr>
        <p:spPr>
          <a:xfrm>
            <a:off x="7726680" y="3246120"/>
            <a:ext cx="1563624" cy="292608"/>
          </a:xfrm>
          <a:prstGeom prst="roundRect">
            <a:avLst>
              <a:gd name="adj" fmla="val 50000"/>
            </a:avLst>
          </a:prstGeom>
          <a:solidFill>
            <a:srgbClr val="E2A93B">
              <a:alpha val="18000"/>
            </a:srgbClr>
          </a:solidFill>
          <a:ln w="12700">
            <a:solidFill>
              <a:srgbClr val="E2A93B"/>
            </a:solidFill>
            <a:prstDash val="solid"/>
          </a:ln>
        </p:spPr>
      </p:sp>
      <p:sp>
        <p:nvSpPr>
          <p:cNvPr id="23" name="Text 21"/>
          <p:cNvSpPr txBox="1"/>
          <p:nvPr/>
        </p:nvSpPr>
        <p:spPr>
          <a:xfrm>
            <a:off x="7726680" y="3246120"/>
            <a:ext cx="1563624" cy="292608"/>
          </a:xfrm>
          <a:prstGeom prst="rect">
            <a:avLst/>
          </a:prstGeom>
          <a:noFill/>
          <a:ln/>
        </p:spPr>
        <p:txBody>
          <a:bodyPr wrap="square" lIns="0" tIns="0" rIns="0" bIns="0" rtlCol="0" anchor="ctr"/>
          <a:lstStyle/>
          <a:p>
            <a:pPr algn="ctr" indent="0" marL="0">
              <a:buNone/>
            </a:pPr>
            <a:r>
              <a:rPr lang="en-US" sz="1050" b="1" spc="100" kern="0" dirty="0">
                <a:solidFill>
                  <a:srgbClr val="B07A12"/>
                </a:solidFill>
              </a:rPr>
              <a:t>INSUFFICIENT</a:t>
            </a:r>
            <a:endParaRPr lang="en-US" sz="1050" dirty="0"/>
          </a:p>
        </p:txBody>
      </p:sp>
      <p:sp>
        <p:nvSpPr>
          <p:cNvPr id="24" name="Text 22"/>
          <p:cNvSpPr txBox="1"/>
          <p:nvPr/>
        </p:nvSpPr>
        <p:spPr>
          <a:xfrm>
            <a:off x="7726680" y="3639312"/>
            <a:ext cx="3703320" cy="640080"/>
          </a:xfrm>
          <a:prstGeom prst="rect">
            <a:avLst/>
          </a:prstGeom>
          <a:noFill/>
          <a:ln/>
        </p:spPr>
        <p:txBody>
          <a:bodyPr wrap="square" lIns="0" tIns="0" rIns="0" bIns="0" rtlCol="0" anchor="t"/>
          <a:lstStyle/>
          <a:p>
            <a:pPr indent="0" marL="0">
              <a:buNone/>
            </a:pPr>
            <a:r>
              <a:rPr lang="en-US" sz="1300" dirty="0">
                <a:solidFill>
                  <a:schemeClr val="bg2"/>
                </a:solidFill>
              </a:rPr>
              <a:t>0 citations. The system names the missing subject matter instead of guessing.</a:t>
            </a:r>
            <a:endParaRPr lang="en-US" sz="1300" dirty="0"/>
          </a:p>
        </p:txBody>
      </p:sp>
      <p:sp>
        <p:nvSpPr>
          <p:cNvPr id="25" name="Also verified card"/>
          <p:cNvSpPr/>
          <p:nvPr/>
        </p:nvSpPr>
        <p:spPr>
          <a:xfrm>
            <a:off x="7498080" y="4663440"/>
            <a:ext cx="4142232" cy="1463040"/>
          </a:xfrm>
          <a:prstGeom prst="roundRect">
            <a:avLst>
              <a:gd name="adj" fmla="val 5000"/>
            </a:avLst>
          </a:prstGeom>
          <a:solidFill>
            <a:srgbClr val="202B3D"/>
          </a:solidFill>
          <a:ln w="9525">
            <a:solidFill>
              <a:srgbClr val="33405A"/>
            </a:solidFill>
            <a:prstDash val="solid"/>
          </a:ln>
        </p:spPr>
      </p:sp>
      <p:sp>
        <p:nvSpPr>
          <p:cNvPr id="26" name="Text 24"/>
          <p:cNvSpPr txBox="1"/>
          <p:nvPr/>
        </p:nvSpPr>
        <p:spPr>
          <a:xfrm>
            <a:off x="7726680" y="480060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ALSO VERIFIED</a:t>
            </a:r>
            <a:endParaRPr lang="en-US" sz="1050" dirty="0"/>
          </a:p>
        </p:txBody>
      </p:sp>
      <p:sp>
        <p:nvSpPr>
          <p:cNvPr id="27" name="Text 25"/>
          <p:cNvSpPr txBox="1"/>
          <p:nvPr/>
        </p:nvSpPr>
        <p:spPr>
          <a:xfrm>
            <a:off x="7726680" y="5102352"/>
            <a:ext cx="3703320" cy="868680"/>
          </a:xfrm>
          <a:prstGeom prst="rect">
            <a:avLst/>
          </a:prstGeom>
          <a:noFill/>
          <a:ln/>
        </p:spPr>
        <p:txBody>
          <a:bodyPr wrap="square" lIns="0" tIns="0" rIns="0" bIns="0" rtlCol="0" anchor="t"/>
          <a:lstStyle/>
          <a:p>
            <a:pPr indent="0" marL="0">
              <a:buNone/>
            </a:pPr>
            <a:r>
              <a:rPr lang="en-US" sz="1350" dirty="0">
                <a:solidFill>
                  <a:srgbClr val="AEB6C4"/>
                </a:solidFill>
              </a:rPr>
              <a:t>Standard delivery window → </a:t>
            </a:r>
            <a:pPr indent="0" marL="0">
              <a:buNone/>
            </a:pPr>
            <a:r>
              <a:rPr lang="en-US" sz="1350" b="1" dirty="0">
                <a:solidFill>
                  <a:srgbClr val="F4F0E8"/>
                </a:solidFill>
              </a:rPr>
              <a:t>“forty-eight (48) hours”</a:t>
            </a:r>
            <a:pPr indent="0" marL="0">
              <a:buNone/>
            </a:pPr>
            <a:r>
              <a:rPr lang="en-US" sz="1350" dirty="0">
                <a:solidFill>
                  <a:srgbClr val="AEB6C4"/>
                </a:solidFill>
              </a:rPr>
              <a:t>  §2.1, quoted verbatim</a:t>
            </a:r>
            <a:endParaRPr lang="en-US" sz="1350" dirty="0"/>
          </a:p>
        </p:txBody>
      </p:sp>
      <p:sp>
        <p:nvSpPr>
          <p:cNvPr id="28" name="Text 26"/>
          <p:cNvSpPr txBox="1"/>
          <p:nvPr/>
        </p:nvSpPr>
        <p:spPr>
          <a:xfrm>
            <a:off x="548640" y="6163056"/>
            <a:ext cx="11094415" cy="201168"/>
          </a:xfrm>
          <a:prstGeom prst="rect">
            <a:avLst/>
          </a:prstGeom>
          <a:noFill/>
          <a:ln/>
        </p:spPr>
        <p:txBody>
          <a:bodyPr wrap="square" lIns="0" tIns="0" rIns="0" bIns="0" rtlCol="0" anchor="ctr"/>
          <a:lstStyle/>
          <a:p>
            <a:pPr indent="0" marL="0">
              <a:buNone/>
            </a:pPr>
            <a:r>
              <a:rPr lang="en-US" sz="950" i="1" dirty="0">
                <a:solidFill>
                  <a:schemeClr val="bg2"/>
                </a:solidFill>
              </a:rPr>
              <a:t>Checked against the running system on 9 Oct 2026 (/api/ask, scoped by doc_id). Gemini was unavailable at capture time, so answers came from the extractive path: verbatim source sentences.</a:t>
            </a:r>
            <a:endParaRPr lang="en-US" sz="95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WHAT MAKES IT DIFFERENT</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Evidence integrity, layer by layer</a:t>
            </a:r>
            <a:endParaRPr lang="en-US" sz="3200" dirty="0"/>
          </a:p>
        </p:txBody>
      </p:sp>
      <p:sp>
        <p:nvSpPr>
          <p:cNvPr id="4" name="Text 2"/>
          <p:cNvSpPr txBox="1"/>
          <p:nvPr/>
        </p:nvSpPr>
        <p:spPr>
          <a:xfrm>
            <a:off x="1143000" y="1371600"/>
            <a:ext cx="2743200" cy="228600"/>
          </a:xfrm>
          <a:prstGeom prst="rect">
            <a:avLst/>
          </a:prstGeom>
          <a:noFill/>
          <a:ln/>
        </p:spPr>
        <p:txBody>
          <a:bodyPr wrap="square" lIns="0" tIns="0" rIns="0" bIns="0" rtlCol="0" anchor="ctr"/>
          <a:lstStyle/>
          <a:p>
            <a:pPr indent="0" marL="0">
              <a:buNone/>
            </a:pPr>
            <a:r>
              <a:rPr lang="en-US" sz="1000" b="1" spc="200" kern="0" dirty="0">
                <a:solidFill>
                  <a:schemeClr val="bg2"/>
                </a:solidFill>
              </a:rPr>
              <a:t>LAYER</a:t>
            </a:r>
            <a:endParaRPr lang="en-US" sz="1000" dirty="0"/>
          </a:p>
        </p:txBody>
      </p:sp>
      <p:sp>
        <p:nvSpPr>
          <p:cNvPr id="5" name="Text 3"/>
          <p:cNvSpPr txBox="1"/>
          <p:nvPr/>
        </p:nvSpPr>
        <p:spPr>
          <a:xfrm>
            <a:off x="4434840" y="1371600"/>
            <a:ext cx="2743200" cy="228600"/>
          </a:xfrm>
          <a:prstGeom prst="rect">
            <a:avLst/>
          </a:prstGeom>
          <a:noFill/>
          <a:ln/>
        </p:spPr>
        <p:txBody>
          <a:bodyPr wrap="square" lIns="0" tIns="0" rIns="0" bIns="0" rtlCol="0" anchor="ctr"/>
          <a:lstStyle/>
          <a:p>
            <a:pPr indent="0" marL="0">
              <a:buNone/>
            </a:pPr>
            <a:r>
              <a:rPr lang="en-US" sz="1000" b="1" spc="200" kern="0" dirty="0">
                <a:solidFill>
                  <a:schemeClr val="bg2"/>
                </a:solidFill>
              </a:rPr>
              <a:t>WHAT IT DOES</a:t>
            </a:r>
            <a:endParaRPr lang="en-US" sz="1000" dirty="0"/>
          </a:p>
        </p:txBody>
      </p:sp>
      <p:sp>
        <p:nvSpPr>
          <p:cNvPr id="6" name="Text 4"/>
          <p:cNvSpPr txBox="1"/>
          <p:nvPr/>
        </p:nvSpPr>
        <p:spPr>
          <a:xfrm>
            <a:off x="8366760" y="1371600"/>
            <a:ext cx="2743200" cy="228600"/>
          </a:xfrm>
          <a:prstGeom prst="rect">
            <a:avLst/>
          </a:prstGeom>
          <a:noFill/>
          <a:ln/>
        </p:spPr>
        <p:txBody>
          <a:bodyPr wrap="square" lIns="0" tIns="0" rIns="0" bIns="0" rtlCol="0" anchor="ctr"/>
          <a:lstStyle/>
          <a:p>
            <a:pPr indent="0" marL="0">
              <a:buNone/>
            </a:pPr>
            <a:r>
              <a:rPr lang="en-US" sz="1000" b="1" spc="200" kern="0" dirty="0">
                <a:solidFill>
                  <a:schemeClr val="bg2"/>
                </a:solidFill>
              </a:rPr>
              <a:t>WHY IT MATTERS</a:t>
            </a:r>
            <a:endParaRPr lang="en-US" sz="1000" dirty="0"/>
          </a:p>
        </p:txBody>
      </p:sp>
      <p:sp>
        <p:nvSpPr>
          <p:cNvPr id="7" name="Layer 1"/>
          <p:cNvSpPr/>
          <p:nvPr/>
        </p:nvSpPr>
        <p:spPr>
          <a:xfrm>
            <a:off x="548640" y="1691640"/>
            <a:ext cx="11094415" cy="676656"/>
          </a:xfrm>
          <a:prstGeom prst="roundRect">
            <a:avLst>
              <a:gd name="adj" fmla="val 10811"/>
            </a:avLst>
          </a:prstGeom>
          <a:solidFill>
            <a:srgbClr val="202B3D"/>
          </a:solidFill>
          <a:ln w="9525">
            <a:solidFill>
              <a:srgbClr val="33405A"/>
            </a:solidFill>
            <a:prstDash val="solid"/>
          </a:ln>
        </p:spPr>
      </p:sp>
      <p:sp>
        <p:nvSpPr>
          <p:cNvPr id="8" name="Step 1"/>
          <p:cNvSpPr/>
          <p:nvPr/>
        </p:nvSpPr>
        <p:spPr>
          <a:xfrm>
            <a:off x="676656" y="1837944"/>
            <a:ext cx="384048" cy="384048"/>
          </a:xfrm>
          <a:prstGeom prst="ellipse">
            <a:avLst/>
          </a:prstGeom>
          <a:solidFill>
            <a:srgbClr val="202B3D"/>
          </a:solidFill>
          <a:ln w="15875">
            <a:solidFill>
              <a:srgbClr val="C5A059"/>
            </a:solidFill>
            <a:prstDash val="solid"/>
          </a:ln>
        </p:spPr>
      </p:sp>
      <p:sp>
        <p:nvSpPr>
          <p:cNvPr id="9" name="Text 7"/>
          <p:cNvSpPr txBox="1"/>
          <p:nvPr/>
        </p:nvSpPr>
        <p:spPr>
          <a:xfrm>
            <a:off x="676656" y="1837944"/>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1</a:t>
            </a:r>
            <a:endParaRPr lang="en-US" sz="1400" dirty="0"/>
          </a:p>
        </p:txBody>
      </p:sp>
      <p:sp>
        <p:nvSpPr>
          <p:cNvPr id="10" name="Text 8"/>
          <p:cNvSpPr txBox="1"/>
          <p:nvPr/>
        </p:nvSpPr>
        <p:spPr>
          <a:xfrm>
            <a:off x="1143000" y="1691640"/>
            <a:ext cx="3154680" cy="676656"/>
          </a:xfrm>
          <a:prstGeom prst="rect">
            <a:avLst/>
          </a:prstGeom>
          <a:noFill/>
          <a:ln/>
        </p:spPr>
        <p:txBody>
          <a:bodyPr wrap="square" lIns="0" tIns="0" rIns="0" bIns="0" rtlCol="0" anchor="ctr"/>
          <a:lstStyle/>
          <a:p>
            <a:pPr indent="0" marL="0">
              <a:buNone/>
            </a:pPr>
            <a:r>
              <a:rPr lang="en-US" sz="1500" b="1" dirty="0">
                <a:solidFill>
                  <a:schemeClr val="bg1"/>
                </a:solidFill>
              </a:rPr>
              <a:t>Document-scoped retrieval</a:t>
            </a:r>
            <a:endParaRPr lang="en-US" sz="1500" dirty="0"/>
          </a:p>
        </p:txBody>
      </p:sp>
      <p:sp>
        <p:nvSpPr>
          <p:cNvPr id="11" name="Text 9"/>
          <p:cNvSpPr txBox="1"/>
          <p:nvPr/>
        </p:nvSpPr>
        <p:spPr>
          <a:xfrm>
            <a:off x="4434840" y="1691640"/>
            <a:ext cx="3749040" cy="676656"/>
          </a:xfrm>
          <a:prstGeom prst="rect">
            <a:avLst/>
          </a:prstGeom>
          <a:noFill/>
          <a:ln/>
        </p:spPr>
        <p:txBody>
          <a:bodyPr wrap="square" lIns="0" tIns="0" rIns="0" bIns="0" rtlCol="0" anchor="ctr"/>
          <a:lstStyle/>
          <a:p>
            <a:pPr indent="0" marL="0">
              <a:buNone/>
            </a:pPr>
            <a:r>
              <a:rPr lang="en-US" sz="1300" dirty="0">
                <a:solidFill>
                  <a:schemeClr val="bg2"/>
                </a:solidFill>
              </a:rPr>
              <a:t>Searches only the selected contract</a:t>
            </a:r>
            <a:endParaRPr lang="en-US" sz="1300" dirty="0"/>
          </a:p>
        </p:txBody>
      </p:sp>
      <p:sp>
        <p:nvSpPr>
          <p:cNvPr id="12" name="Text 10"/>
          <p:cNvSpPr txBox="1"/>
          <p:nvPr/>
        </p:nvSpPr>
        <p:spPr>
          <a:xfrm>
            <a:off x="8366760" y="1691640"/>
            <a:ext cx="3154680" cy="676656"/>
          </a:xfrm>
          <a:prstGeom prst="rect">
            <a:avLst/>
          </a:prstGeom>
          <a:noFill/>
          <a:ln/>
        </p:spPr>
        <p:txBody>
          <a:bodyPr wrap="square" lIns="0" tIns="0" rIns="0" bIns="0" rtlCol="0" anchor="ctr"/>
          <a:lstStyle/>
          <a:p>
            <a:pPr indent="0" marL="0">
              <a:buNone/>
            </a:pPr>
            <a:r>
              <a:rPr lang="en-US" sz="1400" dirty="0">
                <a:solidFill>
                  <a:srgbClr val="F4F0E8"/>
                </a:solidFill>
              </a:rPr>
              <a:t>Answers aren't borrowed from other files</a:t>
            </a:r>
            <a:endParaRPr lang="en-US" sz="1400" dirty="0"/>
          </a:p>
        </p:txBody>
      </p:sp>
      <p:sp>
        <p:nvSpPr>
          <p:cNvPr id="13" name="Layer 2"/>
          <p:cNvSpPr/>
          <p:nvPr/>
        </p:nvSpPr>
        <p:spPr>
          <a:xfrm>
            <a:off x="548640" y="2432304"/>
            <a:ext cx="11094415" cy="676656"/>
          </a:xfrm>
          <a:prstGeom prst="roundRect">
            <a:avLst>
              <a:gd name="adj" fmla="val 10811"/>
            </a:avLst>
          </a:prstGeom>
          <a:solidFill>
            <a:srgbClr val="101827"/>
          </a:solidFill>
          <a:ln w="9525">
            <a:solidFill>
              <a:srgbClr val="33405A"/>
            </a:solidFill>
            <a:prstDash val="solid"/>
          </a:ln>
        </p:spPr>
      </p:sp>
      <p:sp>
        <p:nvSpPr>
          <p:cNvPr id="14" name="Step 2"/>
          <p:cNvSpPr/>
          <p:nvPr/>
        </p:nvSpPr>
        <p:spPr>
          <a:xfrm>
            <a:off x="676656" y="2578608"/>
            <a:ext cx="384048" cy="384048"/>
          </a:xfrm>
          <a:prstGeom prst="ellipse">
            <a:avLst/>
          </a:prstGeom>
          <a:solidFill>
            <a:srgbClr val="101827"/>
          </a:solidFill>
          <a:ln w="15875">
            <a:solidFill>
              <a:srgbClr val="C5A059"/>
            </a:solidFill>
            <a:prstDash val="solid"/>
          </a:ln>
        </p:spPr>
      </p:sp>
      <p:sp>
        <p:nvSpPr>
          <p:cNvPr id="15" name="Text 13"/>
          <p:cNvSpPr txBox="1"/>
          <p:nvPr/>
        </p:nvSpPr>
        <p:spPr>
          <a:xfrm>
            <a:off x="676656" y="2578608"/>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2</a:t>
            </a:r>
            <a:endParaRPr lang="en-US" sz="1400" dirty="0"/>
          </a:p>
        </p:txBody>
      </p:sp>
      <p:sp>
        <p:nvSpPr>
          <p:cNvPr id="16" name="Text 14"/>
          <p:cNvSpPr txBox="1"/>
          <p:nvPr/>
        </p:nvSpPr>
        <p:spPr>
          <a:xfrm>
            <a:off x="1143000" y="2432304"/>
            <a:ext cx="3154680" cy="676656"/>
          </a:xfrm>
          <a:prstGeom prst="rect">
            <a:avLst/>
          </a:prstGeom>
          <a:noFill/>
          <a:ln/>
        </p:spPr>
        <p:txBody>
          <a:bodyPr wrap="square" lIns="0" tIns="0" rIns="0" bIns="0" rtlCol="0" anchor="ctr"/>
          <a:lstStyle/>
          <a:p>
            <a:pPr indent="0" marL="0">
              <a:buNone/>
            </a:pPr>
            <a:r>
              <a:rPr lang="en-US" sz="1500" b="1" dirty="0">
                <a:solidFill>
                  <a:schemeClr val="bg1"/>
                </a:solidFill>
              </a:rPr>
              <a:t>Keyword search (BM25)</a:t>
            </a:r>
            <a:endParaRPr lang="en-US" sz="1500" dirty="0"/>
          </a:p>
        </p:txBody>
      </p:sp>
      <p:sp>
        <p:nvSpPr>
          <p:cNvPr id="17" name="Text 15"/>
          <p:cNvSpPr txBox="1"/>
          <p:nvPr/>
        </p:nvSpPr>
        <p:spPr>
          <a:xfrm>
            <a:off x="4434840" y="2432304"/>
            <a:ext cx="3749040" cy="676656"/>
          </a:xfrm>
          <a:prstGeom prst="rect">
            <a:avLst/>
          </a:prstGeom>
          <a:noFill/>
          <a:ln/>
        </p:spPr>
        <p:txBody>
          <a:bodyPr wrap="square" lIns="0" tIns="0" rIns="0" bIns="0" rtlCol="0" anchor="ctr"/>
          <a:lstStyle/>
          <a:p>
            <a:pPr indent="0" marL="0">
              <a:buNone/>
            </a:pPr>
            <a:r>
              <a:rPr lang="en-US" sz="1300" dirty="0">
                <a:solidFill>
                  <a:schemeClr val="bg2"/>
                </a:solidFill>
              </a:rPr>
              <a:t>Matches exact terms and section numbers</a:t>
            </a:r>
            <a:endParaRPr lang="en-US" sz="1300" dirty="0"/>
          </a:p>
        </p:txBody>
      </p:sp>
      <p:sp>
        <p:nvSpPr>
          <p:cNvPr id="18" name="Text 16"/>
          <p:cNvSpPr txBox="1"/>
          <p:nvPr/>
        </p:nvSpPr>
        <p:spPr>
          <a:xfrm>
            <a:off x="8366760" y="2432304"/>
            <a:ext cx="3154680" cy="676656"/>
          </a:xfrm>
          <a:prstGeom prst="rect">
            <a:avLst/>
          </a:prstGeom>
          <a:noFill/>
          <a:ln/>
        </p:spPr>
        <p:txBody>
          <a:bodyPr wrap="square" lIns="0" tIns="0" rIns="0" bIns="0" rtlCol="0" anchor="ctr"/>
          <a:lstStyle/>
          <a:p>
            <a:pPr indent="0" marL="0">
              <a:buNone/>
            </a:pPr>
            <a:r>
              <a:rPr lang="en-US" sz="1400" dirty="0">
                <a:solidFill>
                  <a:srgbClr val="F4F0E8"/>
                </a:solidFill>
              </a:rPr>
              <a:t>Legal wording is precise</a:t>
            </a:r>
            <a:endParaRPr lang="en-US" sz="1400" dirty="0"/>
          </a:p>
        </p:txBody>
      </p:sp>
      <p:sp>
        <p:nvSpPr>
          <p:cNvPr id="19" name="Layer 3"/>
          <p:cNvSpPr/>
          <p:nvPr/>
        </p:nvSpPr>
        <p:spPr>
          <a:xfrm>
            <a:off x="548640" y="3172968"/>
            <a:ext cx="11094415" cy="676656"/>
          </a:xfrm>
          <a:prstGeom prst="roundRect">
            <a:avLst>
              <a:gd name="adj" fmla="val 10811"/>
            </a:avLst>
          </a:prstGeom>
          <a:solidFill>
            <a:srgbClr val="202B3D"/>
          </a:solidFill>
          <a:ln w="9525">
            <a:solidFill>
              <a:srgbClr val="33405A"/>
            </a:solidFill>
            <a:prstDash val="solid"/>
          </a:ln>
        </p:spPr>
      </p:sp>
      <p:sp>
        <p:nvSpPr>
          <p:cNvPr id="20" name="Step 3"/>
          <p:cNvSpPr/>
          <p:nvPr/>
        </p:nvSpPr>
        <p:spPr>
          <a:xfrm>
            <a:off x="676656" y="3319272"/>
            <a:ext cx="384048" cy="384048"/>
          </a:xfrm>
          <a:prstGeom prst="ellipse">
            <a:avLst/>
          </a:prstGeom>
          <a:solidFill>
            <a:srgbClr val="202B3D"/>
          </a:solidFill>
          <a:ln w="15875">
            <a:solidFill>
              <a:srgbClr val="C5A059"/>
            </a:solidFill>
            <a:prstDash val="solid"/>
          </a:ln>
        </p:spPr>
      </p:sp>
      <p:sp>
        <p:nvSpPr>
          <p:cNvPr id="21" name="Text 19"/>
          <p:cNvSpPr txBox="1"/>
          <p:nvPr/>
        </p:nvSpPr>
        <p:spPr>
          <a:xfrm>
            <a:off x="676656" y="3319272"/>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3</a:t>
            </a:r>
            <a:endParaRPr lang="en-US" sz="1400" dirty="0"/>
          </a:p>
        </p:txBody>
      </p:sp>
      <p:sp>
        <p:nvSpPr>
          <p:cNvPr id="22" name="Text 20"/>
          <p:cNvSpPr txBox="1"/>
          <p:nvPr/>
        </p:nvSpPr>
        <p:spPr>
          <a:xfrm>
            <a:off x="1143000" y="3172968"/>
            <a:ext cx="3154680" cy="676656"/>
          </a:xfrm>
          <a:prstGeom prst="rect">
            <a:avLst/>
          </a:prstGeom>
          <a:noFill/>
          <a:ln/>
        </p:spPr>
        <p:txBody>
          <a:bodyPr wrap="square" lIns="0" tIns="0" rIns="0" bIns="0" rtlCol="0" anchor="ctr"/>
          <a:lstStyle/>
          <a:p>
            <a:pPr indent="0" marL="0">
              <a:buNone/>
            </a:pPr>
            <a:r>
              <a:rPr lang="en-US" sz="1500" b="1" dirty="0">
                <a:solidFill>
                  <a:schemeClr val="bg1"/>
                </a:solidFill>
              </a:rPr>
              <a:t>Semantic search</a:t>
            </a:r>
            <a:endParaRPr lang="en-US" sz="1500" dirty="0"/>
          </a:p>
        </p:txBody>
      </p:sp>
      <p:sp>
        <p:nvSpPr>
          <p:cNvPr id="23" name="Text 21"/>
          <p:cNvSpPr txBox="1"/>
          <p:nvPr/>
        </p:nvSpPr>
        <p:spPr>
          <a:xfrm>
            <a:off x="4434840" y="3172968"/>
            <a:ext cx="3749040" cy="676656"/>
          </a:xfrm>
          <a:prstGeom prst="rect">
            <a:avLst/>
          </a:prstGeom>
          <a:noFill/>
          <a:ln/>
        </p:spPr>
        <p:txBody>
          <a:bodyPr wrap="square" lIns="0" tIns="0" rIns="0" bIns="0" rtlCol="0" anchor="ctr"/>
          <a:lstStyle/>
          <a:p>
            <a:pPr indent="0" marL="0">
              <a:buNone/>
            </a:pPr>
            <a:r>
              <a:rPr lang="en-US" sz="1300" dirty="0">
                <a:solidFill>
                  <a:schemeClr val="bg2"/>
                </a:solidFill>
              </a:rPr>
              <a:t>Gemini embeddings find passages by meaning</a:t>
            </a:r>
            <a:endParaRPr lang="en-US" sz="1300" dirty="0"/>
          </a:p>
        </p:txBody>
      </p:sp>
      <p:sp>
        <p:nvSpPr>
          <p:cNvPr id="24" name="Text 22"/>
          <p:cNvSpPr txBox="1"/>
          <p:nvPr/>
        </p:nvSpPr>
        <p:spPr>
          <a:xfrm>
            <a:off x="8366760" y="3172968"/>
            <a:ext cx="3154680" cy="676656"/>
          </a:xfrm>
          <a:prstGeom prst="rect">
            <a:avLst/>
          </a:prstGeom>
          <a:noFill/>
          <a:ln/>
        </p:spPr>
        <p:txBody>
          <a:bodyPr wrap="square" lIns="0" tIns="0" rIns="0" bIns="0" rtlCol="0" anchor="ctr"/>
          <a:lstStyle/>
          <a:p>
            <a:pPr indent="0" marL="0">
              <a:buNone/>
            </a:pPr>
            <a:r>
              <a:rPr lang="en-US" sz="1400" dirty="0">
                <a:solidFill>
                  <a:srgbClr val="F4F0E8"/>
                </a:solidFill>
              </a:rPr>
              <a:t>Catches paraphrased obligations</a:t>
            </a:r>
            <a:endParaRPr lang="en-US" sz="1400" dirty="0"/>
          </a:p>
        </p:txBody>
      </p:sp>
      <p:sp>
        <p:nvSpPr>
          <p:cNvPr id="25" name="Layer 4"/>
          <p:cNvSpPr/>
          <p:nvPr/>
        </p:nvSpPr>
        <p:spPr>
          <a:xfrm>
            <a:off x="548640" y="3913632"/>
            <a:ext cx="11094415" cy="676656"/>
          </a:xfrm>
          <a:prstGeom prst="roundRect">
            <a:avLst>
              <a:gd name="adj" fmla="val 10811"/>
            </a:avLst>
          </a:prstGeom>
          <a:solidFill>
            <a:srgbClr val="101827"/>
          </a:solidFill>
          <a:ln w="9525">
            <a:solidFill>
              <a:srgbClr val="33405A"/>
            </a:solidFill>
            <a:prstDash val="solid"/>
          </a:ln>
        </p:spPr>
      </p:sp>
      <p:sp>
        <p:nvSpPr>
          <p:cNvPr id="26" name="Step 4"/>
          <p:cNvSpPr/>
          <p:nvPr/>
        </p:nvSpPr>
        <p:spPr>
          <a:xfrm>
            <a:off x="676656" y="4059936"/>
            <a:ext cx="384048" cy="384048"/>
          </a:xfrm>
          <a:prstGeom prst="ellipse">
            <a:avLst/>
          </a:prstGeom>
          <a:solidFill>
            <a:srgbClr val="101827"/>
          </a:solidFill>
          <a:ln w="15875">
            <a:solidFill>
              <a:srgbClr val="C5A059"/>
            </a:solidFill>
            <a:prstDash val="solid"/>
          </a:ln>
        </p:spPr>
      </p:sp>
      <p:sp>
        <p:nvSpPr>
          <p:cNvPr id="27" name="Text 25"/>
          <p:cNvSpPr txBox="1"/>
          <p:nvPr/>
        </p:nvSpPr>
        <p:spPr>
          <a:xfrm>
            <a:off x="676656" y="4059936"/>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4</a:t>
            </a:r>
            <a:endParaRPr lang="en-US" sz="1400" dirty="0"/>
          </a:p>
        </p:txBody>
      </p:sp>
      <p:sp>
        <p:nvSpPr>
          <p:cNvPr id="28" name="Text 26"/>
          <p:cNvSpPr txBox="1"/>
          <p:nvPr/>
        </p:nvSpPr>
        <p:spPr>
          <a:xfrm>
            <a:off x="1143000" y="3913632"/>
            <a:ext cx="3154680" cy="676656"/>
          </a:xfrm>
          <a:prstGeom prst="rect">
            <a:avLst/>
          </a:prstGeom>
          <a:noFill/>
          <a:ln/>
        </p:spPr>
        <p:txBody>
          <a:bodyPr wrap="square" lIns="0" tIns="0" rIns="0" bIns="0" rtlCol="0" anchor="ctr"/>
          <a:lstStyle/>
          <a:p>
            <a:pPr indent="0" marL="0">
              <a:buNone/>
            </a:pPr>
            <a:r>
              <a:rPr lang="en-US" sz="1500" b="1" dirty="0">
                <a:solidFill>
                  <a:schemeClr val="bg1"/>
                </a:solidFill>
              </a:rPr>
              <a:t>Reciprocal Rank Fusion</a:t>
            </a:r>
            <a:endParaRPr lang="en-US" sz="1500" dirty="0"/>
          </a:p>
        </p:txBody>
      </p:sp>
      <p:sp>
        <p:nvSpPr>
          <p:cNvPr id="29" name="Text 27"/>
          <p:cNvSpPr txBox="1"/>
          <p:nvPr/>
        </p:nvSpPr>
        <p:spPr>
          <a:xfrm>
            <a:off x="4434840" y="3913632"/>
            <a:ext cx="3749040" cy="676656"/>
          </a:xfrm>
          <a:prstGeom prst="rect">
            <a:avLst/>
          </a:prstGeom>
          <a:noFill/>
          <a:ln/>
        </p:spPr>
        <p:txBody>
          <a:bodyPr wrap="square" lIns="0" tIns="0" rIns="0" bIns="0" rtlCol="0" anchor="ctr"/>
          <a:lstStyle/>
          <a:p>
            <a:pPr indent="0" marL="0">
              <a:buNone/>
            </a:pPr>
            <a:r>
              <a:rPr lang="en-US" sz="1300" dirty="0">
                <a:solidFill>
                  <a:schemeClr val="bg2"/>
                </a:solidFill>
              </a:rPr>
              <a:t>Merges both rankings by rank (k = 60)</a:t>
            </a:r>
            <a:endParaRPr lang="en-US" sz="1300" dirty="0"/>
          </a:p>
        </p:txBody>
      </p:sp>
      <p:sp>
        <p:nvSpPr>
          <p:cNvPr id="30" name="Text 28"/>
          <p:cNvSpPr txBox="1"/>
          <p:nvPr/>
        </p:nvSpPr>
        <p:spPr>
          <a:xfrm>
            <a:off x="8366760" y="3913632"/>
            <a:ext cx="3154680" cy="676656"/>
          </a:xfrm>
          <a:prstGeom prst="rect">
            <a:avLst/>
          </a:prstGeom>
          <a:noFill/>
          <a:ln/>
        </p:spPr>
        <p:txBody>
          <a:bodyPr wrap="square" lIns="0" tIns="0" rIns="0" bIns="0" rtlCol="0" anchor="ctr"/>
          <a:lstStyle/>
          <a:p>
            <a:pPr indent="0" marL="0">
              <a:buNone/>
            </a:pPr>
            <a:r>
              <a:rPr lang="en-US" sz="1400" dirty="0">
                <a:solidFill>
                  <a:srgbClr val="F4F0E8"/>
                </a:solidFill>
              </a:rPr>
              <a:t>No fragile score calibration</a:t>
            </a:r>
            <a:endParaRPr lang="en-US" sz="1400" dirty="0"/>
          </a:p>
        </p:txBody>
      </p:sp>
      <p:sp>
        <p:nvSpPr>
          <p:cNvPr id="31" name="Layer 5"/>
          <p:cNvSpPr/>
          <p:nvPr/>
        </p:nvSpPr>
        <p:spPr>
          <a:xfrm>
            <a:off x="548640" y="4654296"/>
            <a:ext cx="11094415" cy="676656"/>
          </a:xfrm>
          <a:prstGeom prst="roundRect">
            <a:avLst>
              <a:gd name="adj" fmla="val 10811"/>
            </a:avLst>
          </a:prstGeom>
          <a:solidFill>
            <a:srgbClr val="202B3D"/>
          </a:solidFill>
          <a:ln w="9525">
            <a:solidFill>
              <a:srgbClr val="33405A"/>
            </a:solidFill>
            <a:prstDash val="solid"/>
          </a:ln>
        </p:spPr>
      </p:sp>
      <p:sp>
        <p:nvSpPr>
          <p:cNvPr id="32" name="Step 5"/>
          <p:cNvSpPr/>
          <p:nvPr/>
        </p:nvSpPr>
        <p:spPr>
          <a:xfrm>
            <a:off x="676656" y="4800600"/>
            <a:ext cx="384048" cy="384048"/>
          </a:xfrm>
          <a:prstGeom prst="ellipse">
            <a:avLst/>
          </a:prstGeom>
          <a:solidFill>
            <a:srgbClr val="202B3D"/>
          </a:solidFill>
          <a:ln w="15875">
            <a:solidFill>
              <a:srgbClr val="C5A059"/>
            </a:solidFill>
            <a:prstDash val="solid"/>
          </a:ln>
        </p:spPr>
      </p:sp>
      <p:sp>
        <p:nvSpPr>
          <p:cNvPr id="33" name="Text 31"/>
          <p:cNvSpPr txBox="1"/>
          <p:nvPr/>
        </p:nvSpPr>
        <p:spPr>
          <a:xfrm>
            <a:off x="676656" y="4800600"/>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5</a:t>
            </a:r>
            <a:endParaRPr lang="en-US" sz="1400" dirty="0"/>
          </a:p>
        </p:txBody>
      </p:sp>
      <p:sp>
        <p:nvSpPr>
          <p:cNvPr id="34" name="Text 32"/>
          <p:cNvSpPr txBox="1"/>
          <p:nvPr/>
        </p:nvSpPr>
        <p:spPr>
          <a:xfrm>
            <a:off x="1143000" y="4654296"/>
            <a:ext cx="3154680" cy="676656"/>
          </a:xfrm>
          <a:prstGeom prst="rect">
            <a:avLst/>
          </a:prstGeom>
          <a:noFill/>
          <a:ln/>
        </p:spPr>
        <p:txBody>
          <a:bodyPr wrap="square" lIns="0" tIns="0" rIns="0" bIns="0" rtlCol="0" anchor="ctr"/>
          <a:lstStyle/>
          <a:p>
            <a:pPr indent="0" marL="0">
              <a:buNone/>
            </a:pPr>
            <a:r>
              <a:rPr lang="en-US" sz="1500" b="1" dirty="0">
                <a:solidFill>
                  <a:schemeClr val="bg1"/>
                </a:solidFill>
              </a:rPr>
              <a:t>Clause-dependency expansion</a:t>
            </a:r>
            <a:endParaRPr lang="en-US" sz="1500" dirty="0"/>
          </a:p>
        </p:txBody>
      </p:sp>
      <p:sp>
        <p:nvSpPr>
          <p:cNvPr id="35" name="Text 33"/>
          <p:cNvSpPr txBox="1"/>
          <p:nvPr/>
        </p:nvSpPr>
        <p:spPr>
          <a:xfrm>
            <a:off x="4434840" y="4654296"/>
            <a:ext cx="3749040" cy="676656"/>
          </a:xfrm>
          <a:prstGeom prst="rect">
            <a:avLst/>
          </a:prstGeom>
          <a:noFill/>
          <a:ln/>
        </p:spPr>
        <p:txBody>
          <a:bodyPr wrap="square" lIns="0" tIns="0" rIns="0" bIns="0" rtlCol="0" anchor="ctr"/>
          <a:lstStyle/>
          <a:p>
            <a:pPr indent="0" marL="0">
              <a:buNone/>
            </a:pPr>
            <a:r>
              <a:rPr lang="en-US" sz="1300" dirty="0">
                <a:solidFill>
                  <a:schemeClr val="bg2"/>
                </a:solidFill>
              </a:rPr>
              <a:t>Adds up to 2 clauses named by “subject to”, “notwithstanding”, “defined in”</a:t>
            </a:r>
            <a:endParaRPr lang="en-US" sz="1300" dirty="0"/>
          </a:p>
        </p:txBody>
      </p:sp>
      <p:sp>
        <p:nvSpPr>
          <p:cNvPr id="36" name="Text 34"/>
          <p:cNvSpPr txBox="1"/>
          <p:nvPr/>
        </p:nvSpPr>
        <p:spPr>
          <a:xfrm>
            <a:off x="8366760" y="4654296"/>
            <a:ext cx="3154680" cy="676656"/>
          </a:xfrm>
          <a:prstGeom prst="rect">
            <a:avLst/>
          </a:prstGeom>
          <a:noFill/>
          <a:ln/>
        </p:spPr>
        <p:txBody>
          <a:bodyPr wrap="square" lIns="0" tIns="0" rIns="0" bIns="0" rtlCol="0" anchor="ctr"/>
          <a:lstStyle/>
          <a:p>
            <a:pPr indent="0" marL="0">
              <a:buNone/>
            </a:pPr>
            <a:r>
              <a:rPr lang="en-US" sz="1400" dirty="0">
                <a:solidFill>
                  <a:srgbClr val="F4F0E8"/>
                </a:solidFill>
              </a:rPr>
              <a:t>Exceptions travel with the rule</a:t>
            </a:r>
            <a:endParaRPr lang="en-US" sz="1400" dirty="0"/>
          </a:p>
        </p:txBody>
      </p:sp>
      <p:sp>
        <p:nvSpPr>
          <p:cNvPr id="37" name="Layer 6"/>
          <p:cNvSpPr/>
          <p:nvPr/>
        </p:nvSpPr>
        <p:spPr>
          <a:xfrm>
            <a:off x="548640" y="5394960"/>
            <a:ext cx="11094415" cy="676656"/>
          </a:xfrm>
          <a:prstGeom prst="roundRect">
            <a:avLst>
              <a:gd name="adj" fmla="val 10811"/>
            </a:avLst>
          </a:prstGeom>
          <a:solidFill>
            <a:srgbClr val="101827"/>
          </a:solidFill>
          <a:ln w="9525">
            <a:solidFill>
              <a:srgbClr val="33405A"/>
            </a:solidFill>
            <a:prstDash val="solid"/>
          </a:ln>
        </p:spPr>
      </p:sp>
      <p:sp>
        <p:nvSpPr>
          <p:cNvPr id="38" name="Step 6"/>
          <p:cNvSpPr/>
          <p:nvPr/>
        </p:nvSpPr>
        <p:spPr>
          <a:xfrm>
            <a:off x="676656" y="5541264"/>
            <a:ext cx="384048" cy="384048"/>
          </a:xfrm>
          <a:prstGeom prst="ellipse">
            <a:avLst/>
          </a:prstGeom>
          <a:solidFill>
            <a:srgbClr val="101827"/>
          </a:solidFill>
          <a:ln w="15875">
            <a:solidFill>
              <a:srgbClr val="C5A059"/>
            </a:solidFill>
            <a:prstDash val="solid"/>
          </a:ln>
        </p:spPr>
      </p:sp>
      <p:sp>
        <p:nvSpPr>
          <p:cNvPr id="39" name="Text 37"/>
          <p:cNvSpPr txBox="1"/>
          <p:nvPr/>
        </p:nvSpPr>
        <p:spPr>
          <a:xfrm>
            <a:off x="676656" y="5541264"/>
            <a:ext cx="384048" cy="384048"/>
          </a:xfrm>
          <a:prstGeom prst="rect">
            <a:avLst/>
          </a:prstGeom>
          <a:noFill/>
          <a:ln/>
        </p:spPr>
        <p:txBody>
          <a:bodyPr wrap="square" lIns="0" tIns="0" rIns="0" bIns="0" rtlCol="0" anchor="ctr"/>
          <a:lstStyle/>
          <a:p>
            <a:pPr algn="ctr" indent="0" marL="0">
              <a:buNone/>
            </a:pPr>
            <a:r>
              <a:rPr lang="en-US" sz="1400" dirty="0">
                <a:solidFill>
                  <a:schemeClr val="accent1"/>
                </a:solidFill>
                <a:latin typeface="Georgia" pitchFamily="34" charset="0"/>
                <a:ea typeface="Georgia" pitchFamily="34" charset="-122"/>
                <a:cs typeface="Georgia" pitchFamily="34" charset="-120"/>
              </a:rPr>
              <a:t>6</a:t>
            </a:r>
            <a:endParaRPr lang="en-US" sz="1400" dirty="0"/>
          </a:p>
        </p:txBody>
      </p:sp>
      <p:sp>
        <p:nvSpPr>
          <p:cNvPr id="40" name="Text 38"/>
          <p:cNvSpPr txBox="1"/>
          <p:nvPr/>
        </p:nvSpPr>
        <p:spPr>
          <a:xfrm>
            <a:off x="1143000" y="5394960"/>
            <a:ext cx="3154680" cy="676656"/>
          </a:xfrm>
          <a:prstGeom prst="rect">
            <a:avLst/>
          </a:prstGeom>
          <a:noFill/>
          <a:ln/>
        </p:spPr>
        <p:txBody>
          <a:bodyPr wrap="square" lIns="0" tIns="0" rIns="0" bIns="0" rtlCol="0" anchor="ctr"/>
          <a:lstStyle/>
          <a:p>
            <a:pPr indent="0" marL="0">
              <a:buNone/>
            </a:pPr>
            <a:r>
              <a:rPr lang="en-US" sz="1500" b="1" dirty="0">
                <a:solidFill>
                  <a:schemeClr val="bg1"/>
                </a:solidFill>
              </a:rPr>
              <a:t>Sufficiency gate + quote check</a:t>
            </a:r>
            <a:endParaRPr lang="en-US" sz="1500" dirty="0"/>
          </a:p>
        </p:txBody>
      </p:sp>
      <p:sp>
        <p:nvSpPr>
          <p:cNvPr id="41" name="Text 39"/>
          <p:cNvSpPr txBox="1"/>
          <p:nvPr/>
        </p:nvSpPr>
        <p:spPr>
          <a:xfrm>
            <a:off x="4434840" y="5394960"/>
            <a:ext cx="3749040" cy="676656"/>
          </a:xfrm>
          <a:prstGeom prst="rect">
            <a:avLst/>
          </a:prstGeom>
          <a:noFill/>
          <a:ln/>
        </p:spPr>
        <p:txBody>
          <a:bodyPr wrap="square" lIns="0" tIns="0" rIns="0" bIns="0" rtlCol="0" anchor="ctr"/>
          <a:lstStyle/>
          <a:p>
            <a:pPr indent="0" marL="0">
              <a:buNone/>
            </a:pPr>
            <a:r>
              <a:rPr lang="en-US" sz="1300" dirty="0">
                <a:solidFill>
                  <a:schemeClr val="bg2"/>
                </a:solidFill>
              </a:rPr>
              <a:t>Abstains when core terms are absent; cited quotes must match the source exactly</a:t>
            </a:r>
            <a:endParaRPr lang="en-US" sz="1300" dirty="0"/>
          </a:p>
        </p:txBody>
      </p:sp>
      <p:sp>
        <p:nvSpPr>
          <p:cNvPr id="42" name="Text 40"/>
          <p:cNvSpPr txBox="1"/>
          <p:nvPr/>
        </p:nvSpPr>
        <p:spPr>
          <a:xfrm>
            <a:off x="8366760" y="5394960"/>
            <a:ext cx="3154680" cy="676656"/>
          </a:xfrm>
          <a:prstGeom prst="rect">
            <a:avLst/>
          </a:prstGeom>
          <a:noFill/>
          <a:ln/>
        </p:spPr>
        <p:txBody>
          <a:bodyPr wrap="square" lIns="0" tIns="0" rIns="0" bIns="0" rtlCol="0" anchor="ctr"/>
          <a:lstStyle/>
          <a:p>
            <a:pPr indent="0" marL="0">
              <a:buNone/>
            </a:pPr>
            <a:r>
              <a:rPr lang="en-US" sz="1400" b="1" dirty="0">
                <a:solidFill>
                  <a:srgbClr val="C5A059"/>
                </a:solidFill>
              </a:rPr>
              <a:t>No evidence → no answer, no citation</a:t>
            </a:r>
            <a:endParaRPr lang="en-US" sz="14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TECHNICAL ARCHITECTURE</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How a question becomes a cited answer</a:t>
            </a:r>
            <a:endParaRPr lang="en-US" sz="3200" dirty="0"/>
          </a:p>
        </p:txBody>
      </p:sp>
      <p:sp>
        <p:nvSpPr>
          <p:cNvPr id="4" name="Frontend box"/>
          <p:cNvSpPr/>
          <p:nvPr/>
        </p:nvSpPr>
        <p:spPr>
          <a:xfrm>
            <a:off x="548640" y="1600200"/>
            <a:ext cx="2926080" cy="1325880"/>
          </a:xfrm>
          <a:prstGeom prst="roundRect">
            <a:avLst>
              <a:gd name="adj" fmla="val 5517"/>
            </a:avLst>
          </a:prstGeom>
          <a:solidFill>
            <a:srgbClr val="202B3D"/>
          </a:solidFill>
          <a:ln w="9525">
            <a:solidFill>
              <a:srgbClr val="33405A"/>
            </a:solidFill>
            <a:prstDash val="solid"/>
          </a:ln>
        </p:spPr>
      </p:sp>
      <p:sp>
        <p:nvSpPr>
          <p:cNvPr id="5" name="Text 3"/>
          <p:cNvSpPr txBox="1"/>
          <p:nvPr/>
        </p:nvSpPr>
        <p:spPr>
          <a:xfrm>
            <a:off x="731520" y="1691640"/>
            <a:ext cx="2560320" cy="274320"/>
          </a:xfrm>
          <a:prstGeom prst="rect">
            <a:avLst/>
          </a:prstGeom>
          <a:noFill/>
          <a:ln/>
        </p:spPr>
        <p:txBody>
          <a:bodyPr wrap="square" lIns="0" tIns="0" rIns="0" bIns="0" rtlCol="0" anchor="ctr"/>
          <a:lstStyle/>
          <a:p>
            <a:pPr indent="0" marL="0">
              <a:buNone/>
            </a:pPr>
            <a:r>
              <a:rPr lang="en-US" sz="1500" b="1" dirty="0">
                <a:solidFill>
                  <a:schemeClr val="bg1"/>
                </a:solidFill>
              </a:rPr>
              <a:t>Frontend</a:t>
            </a:r>
            <a:endParaRPr lang="en-US" sz="1500" dirty="0"/>
          </a:p>
        </p:txBody>
      </p:sp>
      <p:sp>
        <p:nvSpPr>
          <p:cNvPr id="6" name="Text 4"/>
          <p:cNvSpPr txBox="1"/>
          <p:nvPr/>
        </p:nvSpPr>
        <p:spPr>
          <a:xfrm>
            <a:off x="731520" y="1993392"/>
            <a:ext cx="2606040" cy="822960"/>
          </a:xfrm>
          <a:prstGeom prst="rect">
            <a:avLst/>
          </a:prstGeom>
          <a:noFill/>
          <a:ln/>
        </p:spPr>
        <p:txBody>
          <a:bodyPr wrap="square" lIns="0" tIns="0" rIns="0" bIns="0" rtlCol="0" anchor="t"/>
          <a:lstStyle/>
          <a:p>
            <a:pPr indent="0" marL="0">
              <a:buNone/>
            </a:pPr>
            <a:r>
              <a:rPr lang="en-US" sz="1200" dirty="0">
                <a:solidFill>
                  <a:schemeClr val="bg2"/>
                </a:solidFill>
              </a:rPr>
              <a:t>React 19 · TypeScript · Vite</a:t>
            </a:r>
            <a:endParaRPr lang="en-US" sz="1200" dirty="0"/>
          </a:p>
          <a:p>
            <a:pPr indent="0" marL="0">
              <a:buNone/>
            </a:pPr>
            <a:r>
              <a:rPr lang="en-US" sz="1200" dirty="0">
                <a:solidFill>
                  <a:schemeClr val="bg2"/>
                </a:solidFill>
              </a:rPr>
              <a:t>Contract Workspace, Legal Drafting, Matters &amp; Tasks</a:t>
            </a:r>
            <a:endParaRPr lang="en-US" sz="1200" dirty="0"/>
          </a:p>
        </p:txBody>
      </p:sp>
      <p:sp>
        <p:nvSpPr>
          <p:cNvPr id="7" name="Text 5"/>
          <p:cNvSpPr txBox="1"/>
          <p:nvPr/>
        </p:nvSpPr>
        <p:spPr>
          <a:xfrm>
            <a:off x="3493008" y="2011680"/>
            <a:ext cx="868680" cy="274320"/>
          </a:xfrm>
          <a:prstGeom prst="rect">
            <a:avLst/>
          </a:prstGeom>
          <a:noFill/>
          <a:ln/>
        </p:spPr>
        <p:txBody>
          <a:bodyPr wrap="square" lIns="0" tIns="0" rIns="0" bIns="0" rtlCol="0" anchor="ctr"/>
          <a:lstStyle/>
          <a:p>
            <a:pPr algn="ctr" indent="0" marL="0">
              <a:buNone/>
            </a:pPr>
            <a:r>
              <a:rPr lang="en-US" sz="1000" dirty="0">
                <a:solidFill>
                  <a:schemeClr val="accent1"/>
                </a:solidFill>
              </a:rPr>
              <a:t>HTTP · JSON</a:t>
            </a:r>
            <a:endParaRPr lang="en-US" sz="1000" dirty="0"/>
          </a:p>
        </p:txBody>
      </p:sp>
      <p:sp>
        <p:nvSpPr>
          <p:cNvPr id="8" name="Arrow UI to API"/>
          <p:cNvSpPr/>
          <p:nvPr/>
        </p:nvSpPr>
        <p:spPr>
          <a:xfrm>
            <a:off x="3520440" y="2286000"/>
            <a:ext cx="822960" cy="0"/>
          </a:xfrm>
          <a:prstGeom prst="line">
            <a:avLst/>
          </a:prstGeom>
          <a:noFill/>
          <a:ln w="15875">
            <a:solidFill>
              <a:srgbClr val="C5A059"/>
            </a:solidFill>
            <a:prstDash val="solid"/>
            <a:headEnd type="triangle"/>
            <a:tailEnd type="triangle"/>
          </a:ln>
        </p:spPr>
      </p:sp>
      <p:sp>
        <p:nvSpPr>
          <p:cNvPr id="9" name="API box"/>
          <p:cNvSpPr/>
          <p:nvPr/>
        </p:nvSpPr>
        <p:spPr>
          <a:xfrm>
            <a:off x="4389120" y="1600200"/>
            <a:ext cx="3017520" cy="1325880"/>
          </a:xfrm>
          <a:prstGeom prst="roundRect">
            <a:avLst>
              <a:gd name="adj" fmla="val 5517"/>
            </a:avLst>
          </a:prstGeom>
          <a:solidFill>
            <a:srgbClr val="202B3D"/>
          </a:solidFill>
          <a:ln w="9525">
            <a:solidFill>
              <a:srgbClr val="33405A"/>
            </a:solidFill>
            <a:prstDash val="solid"/>
          </a:ln>
        </p:spPr>
      </p:sp>
      <p:sp>
        <p:nvSpPr>
          <p:cNvPr id="10" name="Text 8"/>
          <p:cNvSpPr txBox="1"/>
          <p:nvPr/>
        </p:nvSpPr>
        <p:spPr>
          <a:xfrm>
            <a:off x="4572000" y="1691640"/>
            <a:ext cx="2651760" cy="274320"/>
          </a:xfrm>
          <a:prstGeom prst="rect">
            <a:avLst/>
          </a:prstGeom>
          <a:noFill/>
          <a:ln/>
        </p:spPr>
        <p:txBody>
          <a:bodyPr wrap="square" lIns="0" tIns="0" rIns="0" bIns="0" rtlCol="0" anchor="ctr"/>
          <a:lstStyle/>
          <a:p>
            <a:pPr indent="0" marL="0">
              <a:buNone/>
            </a:pPr>
            <a:r>
              <a:rPr lang="en-US" sz="1500" b="1" dirty="0">
                <a:solidFill>
                  <a:schemeClr val="bg1"/>
                </a:solidFill>
              </a:rPr>
              <a:t>FastAPI</a:t>
            </a:r>
            <a:endParaRPr lang="en-US" sz="1500" dirty="0"/>
          </a:p>
        </p:txBody>
      </p:sp>
      <p:sp>
        <p:nvSpPr>
          <p:cNvPr id="11" name="Text 9"/>
          <p:cNvSpPr txBox="1"/>
          <p:nvPr/>
        </p:nvSpPr>
        <p:spPr>
          <a:xfrm>
            <a:off x="4572000" y="1993392"/>
            <a:ext cx="2743200" cy="822960"/>
          </a:xfrm>
          <a:prstGeom prst="rect">
            <a:avLst/>
          </a:prstGeom>
          <a:noFill/>
          <a:ln/>
        </p:spPr>
        <p:txBody>
          <a:bodyPr wrap="square" lIns="0" tIns="0" rIns="0" bIns="0" rtlCol="0" anchor="t"/>
          <a:lstStyle/>
          <a:p>
            <a:pPr indent="0" marL="0">
              <a:buNone/>
            </a:pPr>
            <a:r>
              <a:rPr lang="en-US" sz="1050" dirty="0">
                <a:solidFill>
                  <a:schemeClr val="bg2"/>
                </a:solidFill>
                <a:latin typeface="Consolas" pitchFamily="34" charset="0"/>
                <a:ea typeface="Consolas" pitchFamily="34" charset="-122"/>
                <a:cs typeface="Consolas" pitchFamily="34" charset="-120"/>
              </a:rPr>
              <a:t>/api/upload   /api/ask</a:t>
            </a:r>
            <a:endParaRPr lang="en-US" sz="1050" dirty="0"/>
          </a:p>
          <a:p>
            <a:pPr indent="0" marL="0">
              <a:buNone/>
            </a:pPr>
            <a:r>
              <a:rPr lang="en-US" sz="1050" dirty="0">
                <a:solidFill>
                  <a:schemeClr val="bg2"/>
                </a:solidFill>
                <a:latin typeface="Consolas" pitchFamily="34" charset="0"/>
                <a:ea typeface="Consolas" pitchFamily="34" charset="-122"/>
                <a:cs typeface="Consolas" pitchFamily="34" charset="-120"/>
              </a:rPr>
              <a:t>/api/draft/notice   /api/draft/clauses</a:t>
            </a:r>
            <a:endParaRPr lang="en-US" sz="1050" dirty="0"/>
          </a:p>
          <a:p>
            <a:pPr indent="0" marL="0">
              <a:buNone/>
            </a:pPr>
            <a:r>
              <a:rPr lang="en-US" sz="1050" dirty="0">
                <a:solidFill>
                  <a:schemeClr val="bg2"/>
                </a:solidFill>
                <a:latin typeface="Consolas" pitchFamily="34" charset="0"/>
                <a:ea typeface="Consolas" pitchFamily="34" charset="-122"/>
                <a:cs typeface="Consolas" pitchFamily="34" charset="-120"/>
              </a:rPr>
              <a:t>/api/documents</a:t>
            </a:r>
            <a:endParaRPr lang="en-US" sz="1050" dirty="0"/>
          </a:p>
        </p:txBody>
      </p:sp>
      <p:sp>
        <p:nvSpPr>
          <p:cNvPr id="12" name="Data boundaries box"/>
          <p:cNvSpPr/>
          <p:nvPr/>
        </p:nvSpPr>
        <p:spPr>
          <a:xfrm>
            <a:off x="7680960" y="1600200"/>
            <a:ext cx="3959352" cy="1325880"/>
          </a:xfrm>
          <a:prstGeom prst="roundRect">
            <a:avLst>
              <a:gd name="adj" fmla="val 5517"/>
            </a:avLst>
          </a:prstGeom>
          <a:solidFill>
            <a:srgbClr val="101827"/>
          </a:solidFill>
          <a:ln w="9525">
            <a:solidFill>
              <a:srgbClr val="C5A059"/>
            </a:solidFill>
            <a:prstDash val="solid"/>
          </a:ln>
        </p:spPr>
      </p:sp>
      <p:sp>
        <p:nvSpPr>
          <p:cNvPr id="13" name="Text 11"/>
          <p:cNvSpPr txBox="1"/>
          <p:nvPr/>
        </p:nvSpPr>
        <p:spPr>
          <a:xfrm>
            <a:off x="7863840" y="1691640"/>
            <a:ext cx="3566160" cy="256032"/>
          </a:xfrm>
          <a:prstGeom prst="rect">
            <a:avLst/>
          </a:prstGeom>
          <a:noFill/>
          <a:ln/>
        </p:spPr>
        <p:txBody>
          <a:bodyPr wrap="square" lIns="0" tIns="0" rIns="0" bIns="0" rtlCol="0" anchor="ctr"/>
          <a:lstStyle/>
          <a:p>
            <a:pPr indent="0" marL="0">
              <a:buNone/>
            </a:pPr>
            <a:r>
              <a:rPr lang="en-US" sz="1000" b="1" spc="200" kern="0" dirty="0">
                <a:solidFill>
                  <a:schemeClr val="accent1"/>
                </a:solidFill>
              </a:rPr>
              <a:t>DATA BOUNDARIES</a:t>
            </a:r>
            <a:endParaRPr lang="en-US" sz="1000" dirty="0"/>
          </a:p>
        </p:txBody>
      </p:sp>
      <p:sp>
        <p:nvSpPr>
          <p:cNvPr id="14" name="Text 12"/>
          <p:cNvSpPr txBox="1"/>
          <p:nvPr/>
        </p:nvSpPr>
        <p:spPr>
          <a:xfrm>
            <a:off x="7863840" y="1947672"/>
            <a:ext cx="3657600" cy="9144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chemeClr val="bg1"/>
                </a:solidFill>
              </a:rPr>
              <a:t>Index held in server memory; uploads are not written to disk</a:t>
            </a:r>
            <a:endParaRPr lang="en-US" sz="1150" dirty="0"/>
          </a:p>
          <a:p>
            <a:pPr marL="177800" indent="-177800">
              <a:spcAft>
                <a:spcPts val="300"/>
              </a:spcAft>
              <a:buSzPct val="100000"/>
              <a:buChar char="•"/>
            </a:pPr>
            <a:r>
              <a:rPr lang="en-US" sz="1150" dirty="0">
                <a:solidFill>
                  <a:schemeClr val="bg1"/>
                </a:solidFill>
              </a:rPr>
              <a:t>Contract text is sent to Google's Gemini API when enabled</a:t>
            </a:r>
            <a:endParaRPr lang="en-US" sz="1150" dirty="0"/>
          </a:p>
          <a:p>
            <a:pPr marL="177800" indent="-177800">
              <a:spcAft>
                <a:spcPts val="300"/>
              </a:spcAft>
              <a:buSzPct val="100000"/>
              <a:buChar char="•"/>
            </a:pPr>
            <a:r>
              <a:rPr lang="en-US" sz="1150" dirty="0">
                <a:solidFill>
                  <a:schemeClr val="bg1"/>
                </a:solidFill>
              </a:rPr>
              <a:t>Matters &amp; tasks: browser-only metadata</a:t>
            </a:r>
            <a:endParaRPr lang="en-US" sz="1150" dirty="0"/>
          </a:p>
        </p:txBody>
      </p:sp>
      <p:sp>
        <p:nvSpPr>
          <p:cNvPr id="15" name="Text 13"/>
          <p:cNvSpPr txBox="1"/>
          <p:nvPr/>
        </p:nvSpPr>
        <p:spPr>
          <a:xfrm>
            <a:off x="548640" y="3154680"/>
            <a:ext cx="5486400" cy="228600"/>
          </a:xfrm>
          <a:prstGeom prst="rect">
            <a:avLst/>
          </a:prstGeom>
          <a:noFill/>
          <a:ln/>
        </p:spPr>
        <p:txBody>
          <a:bodyPr wrap="square" lIns="0" tIns="0" rIns="0" bIns="0" rtlCol="0" anchor="ctr"/>
          <a:lstStyle/>
          <a:p>
            <a:pPr indent="0" marL="0">
              <a:buNone/>
            </a:pPr>
            <a:r>
              <a:rPr lang="en-US" sz="1000" b="1" spc="200" kern="0" dirty="0">
                <a:solidFill>
                  <a:schemeClr val="bg2"/>
                </a:solidFill>
              </a:rPr>
              <a:t>QUESTION PIPELINE  (/api/ask)</a:t>
            </a:r>
            <a:endParaRPr lang="en-US" sz="1000" dirty="0"/>
          </a:p>
        </p:txBody>
      </p:sp>
      <p:sp>
        <p:nvSpPr>
          <p:cNvPr id="16" name="Pipeline spine"/>
          <p:cNvSpPr/>
          <p:nvPr/>
        </p:nvSpPr>
        <p:spPr>
          <a:xfrm>
            <a:off x="822960" y="3931920"/>
            <a:ext cx="10545775" cy="0"/>
          </a:xfrm>
          <a:prstGeom prst="line">
            <a:avLst/>
          </a:prstGeom>
          <a:noFill/>
          <a:ln w="15875">
            <a:solidFill>
              <a:srgbClr val="C5A059"/>
            </a:solidFill>
            <a:prstDash val="solid"/>
            <a:tailEnd type="triangle"/>
          </a:ln>
        </p:spPr>
      </p:sp>
      <p:sp>
        <p:nvSpPr>
          <p:cNvPr id="17" name="Pipeline Parse"/>
          <p:cNvSpPr/>
          <p:nvPr/>
        </p:nvSpPr>
        <p:spPr>
          <a:xfrm>
            <a:off x="548640" y="3474720"/>
            <a:ext cx="1261872" cy="914400"/>
          </a:xfrm>
          <a:prstGeom prst="roundRect">
            <a:avLst>
              <a:gd name="adj" fmla="val 8000"/>
            </a:avLst>
          </a:prstGeom>
          <a:solidFill>
            <a:srgbClr val="202B3D"/>
          </a:solidFill>
          <a:ln w="9525">
            <a:solidFill>
              <a:srgbClr val="33405A"/>
            </a:solidFill>
            <a:prstDash val="solid"/>
          </a:ln>
        </p:spPr>
      </p:sp>
      <p:sp>
        <p:nvSpPr>
          <p:cNvPr id="18" name="Text 16"/>
          <p:cNvSpPr txBox="1"/>
          <p:nvPr/>
        </p:nvSpPr>
        <p:spPr>
          <a:xfrm>
            <a:off x="640080"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Parse</a:t>
            </a:r>
            <a:endParaRPr lang="en-US" sz="1350" dirty="0"/>
          </a:p>
        </p:txBody>
      </p:sp>
      <p:sp>
        <p:nvSpPr>
          <p:cNvPr id="19" name="Text 17"/>
          <p:cNvSpPr txBox="1"/>
          <p:nvPr/>
        </p:nvSpPr>
        <p:spPr>
          <a:xfrm>
            <a:off x="640080"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pypdf · text</a:t>
            </a:r>
            <a:endParaRPr lang="en-US" sz="1050" dirty="0"/>
          </a:p>
        </p:txBody>
      </p:sp>
      <p:sp>
        <p:nvSpPr>
          <p:cNvPr id="20" name="Pipeline Chunk"/>
          <p:cNvSpPr/>
          <p:nvPr/>
        </p:nvSpPr>
        <p:spPr>
          <a:xfrm>
            <a:off x="1953289" y="3474720"/>
            <a:ext cx="1261872" cy="914400"/>
          </a:xfrm>
          <a:prstGeom prst="roundRect">
            <a:avLst>
              <a:gd name="adj" fmla="val 8000"/>
            </a:avLst>
          </a:prstGeom>
          <a:solidFill>
            <a:srgbClr val="202B3D"/>
          </a:solidFill>
          <a:ln w="9525">
            <a:solidFill>
              <a:srgbClr val="33405A"/>
            </a:solidFill>
            <a:prstDash val="solid"/>
          </a:ln>
        </p:spPr>
      </p:sp>
      <p:sp>
        <p:nvSpPr>
          <p:cNvPr id="21" name="Text 19"/>
          <p:cNvSpPr txBox="1"/>
          <p:nvPr/>
        </p:nvSpPr>
        <p:spPr>
          <a:xfrm>
            <a:off x="2044729"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Chunk</a:t>
            </a:r>
            <a:endParaRPr lang="en-US" sz="1350" dirty="0"/>
          </a:p>
        </p:txBody>
      </p:sp>
      <p:sp>
        <p:nvSpPr>
          <p:cNvPr id="22" name="Text 20"/>
          <p:cNvSpPr txBox="1"/>
          <p:nvPr/>
        </p:nvSpPr>
        <p:spPr>
          <a:xfrm>
            <a:off x="2044729"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Section-aware, 900 chars</a:t>
            </a:r>
            <a:endParaRPr lang="en-US" sz="1050" dirty="0"/>
          </a:p>
        </p:txBody>
      </p:sp>
      <p:sp>
        <p:nvSpPr>
          <p:cNvPr id="23" name="Pipeline Index"/>
          <p:cNvSpPr/>
          <p:nvPr/>
        </p:nvSpPr>
        <p:spPr>
          <a:xfrm>
            <a:off x="3357938" y="3474720"/>
            <a:ext cx="1261872" cy="914400"/>
          </a:xfrm>
          <a:prstGeom prst="roundRect">
            <a:avLst>
              <a:gd name="adj" fmla="val 8000"/>
            </a:avLst>
          </a:prstGeom>
          <a:solidFill>
            <a:srgbClr val="202B3D"/>
          </a:solidFill>
          <a:ln w="9525">
            <a:solidFill>
              <a:srgbClr val="33405A"/>
            </a:solidFill>
            <a:prstDash val="solid"/>
          </a:ln>
        </p:spPr>
      </p:sp>
      <p:sp>
        <p:nvSpPr>
          <p:cNvPr id="24" name="Text 22"/>
          <p:cNvSpPr txBox="1"/>
          <p:nvPr/>
        </p:nvSpPr>
        <p:spPr>
          <a:xfrm>
            <a:off x="3449378"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Index</a:t>
            </a:r>
            <a:endParaRPr lang="en-US" sz="1350" dirty="0"/>
          </a:p>
        </p:txBody>
      </p:sp>
      <p:sp>
        <p:nvSpPr>
          <p:cNvPr id="25" name="Text 23"/>
          <p:cNvSpPr txBox="1"/>
          <p:nvPr/>
        </p:nvSpPr>
        <p:spPr>
          <a:xfrm>
            <a:off x="3449378"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BM25 + Gemini embedding-001</a:t>
            </a:r>
            <a:endParaRPr lang="en-US" sz="1050" dirty="0"/>
          </a:p>
        </p:txBody>
      </p:sp>
      <p:sp>
        <p:nvSpPr>
          <p:cNvPr id="26" name="Pipeline Retrieve"/>
          <p:cNvSpPr/>
          <p:nvPr/>
        </p:nvSpPr>
        <p:spPr>
          <a:xfrm>
            <a:off x="4762587" y="3474720"/>
            <a:ext cx="1261872" cy="914400"/>
          </a:xfrm>
          <a:prstGeom prst="roundRect">
            <a:avLst>
              <a:gd name="adj" fmla="val 8000"/>
            </a:avLst>
          </a:prstGeom>
          <a:solidFill>
            <a:srgbClr val="202B3D"/>
          </a:solidFill>
          <a:ln w="9525">
            <a:solidFill>
              <a:srgbClr val="33405A"/>
            </a:solidFill>
            <a:prstDash val="solid"/>
          </a:ln>
        </p:spPr>
      </p:sp>
      <p:sp>
        <p:nvSpPr>
          <p:cNvPr id="27" name="Text 25"/>
          <p:cNvSpPr txBox="1"/>
          <p:nvPr/>
        </p:nvSpPr>
        <p:spPr>
          <a:xfrm>
            <a:off x="4854027"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Retrieve</a:t>
            </a:r>
            <a:endParaRPr lang="en-US" sz="1350" dirty="0"/>
          </a:p>
        </p:txBody>
      </p:sp>
      <p:sp>
        <p:nvSpPr>
          <p:cNvPr id="28" name="Text 26"/>
          <p:cNvSpPr txBox="1"/>
          <p:nvPr/>
        </p:nvSpPr>
        <p:spPr>
          <a:xfrm>
            <a:off x="4854027"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Doc-scoped hybrid, RRF</a:t>
            </a:r>
            <a:endParaRPr lang="en-US" sz="1050" dirty="0"/>
          </a:p>
        </p:txBody>
      </p:sp>
      <p:sp>
        <p:nvSpPr>
          <p:cNvPr id="29" name="Pipeline Expand"/>
          <p:cNvSpPr/>
          <p:nvPr/>
        </p:nvSpPr>
        <p:spPr>
          <a:xfrm>
            <a:off x="6167236" y="3474720"/>
            <a:ext cx="1261872" cy="914400"/>
          </a:xfrm>
          <a:prstGeom prst="roundRect">
            <a:avLst>
              <a:gd name="adj" fmla="val 8000"/>
            </a:avLst>
          </a:prstGeom>
          <a:solidFill>
            <a:srgbClr val="202B3D"/>
          </a:solidFill>
          <a:ln w="9525">
            <a:solidFill>
              <a:srgbClr val="33405A"/>
            </a:solidFill>
            <a:prstDash val="solid"/>
          </a:ln>
        </p:spPr>
      </p:sp>
      <p:sp>
        <p:nvSpPr>
          <p:cNvPr id="30" name="Text 28"/>
          <p:cNvSpPr txBox="1"/>
          <p:nvPr/>
        </p:nvSpPr>
        <p:spPr>
          <a:xfrm>
            <a:off x="6258676"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Expand</a:t>
            </a:r>
            <a:endParaRPr lang="en-US" sz="1350" dirty="0"/>
          </a:p>
        </p:txBody>
      </p:sp>
      <p:sp>
        <p:nvSpPr>
          <p:cNvPr id="31" name="Text 29"/>
          <p:cNvSpPr txBox="1"/>
          <p:nvPr/>
        </p:nvSpPr>
        <p:spPr>
          <a:xfrm>
            <a:off x="6258676"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Cross-references</a:t>
            </a:r>
            <a:endParaRPr lang="en-US" sz="1050" dirty="0"/>
          </a:p>
        </p:txBody>
      </p:sp>
      <p:sp>
        <p:nvSpPr>
          <p:cNvPr id="32" name="Pipeline Gate"/>
          <p:cNvSpPr/>
          <p:nvPr/>
        </p:nvSpPr>
        <p:spPr>
          <a:xfrm>
            <a:off x="7571885" y="3474720"/>
            <a:ext cx="1261872" cy="914400"/>
          </a:xfrm>
          <a:prstGeom prst="roundRect">
            <a:avLst>
              <a:gd name="adj" fmla="val 8000"/>
            </a:avLst>
          </a:prstGeom>
          <a:solidFill>
            <a:srgbClr val="2A2A22"/>
          </a:solidFill>
          <a:ln w="9525">
            <a:solidFill>
              <a:srgbClr val="C5A059"/>
            </a:solidFill>
            <a:prstDash val="solid"/>
          </a:ln>
        </p:spPr>
      </p:sp>
      <p:sp>
        <p:nvSpPr>
          <p:cNvPr id="33" name="Text 31"/>
          <p:cNvSpPr txBox="1"/>
          <p:nvPr/>
        </p:nvSpPr>
        <p:spPr>
          <a:xfrm>
            <a:off x="7663325"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Gate</a:t>
            </a:r>
            <a:endParaRPr lang="en-US" sz="1350" dirty="0"/>
          </a:p>
        </p:txBody>
      </p:sp>
      <p:sp>
        <p:nvSpPr>
          <p:cNvPr id="34" name="Text 32"/>
          <p:cNvSpPr txBox="1"/>
          <p:nvPr/>
        </p:nvSpPr>
        <p:spPr>
          <a:xfrm>
            <a:off x="7663325"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Evidence sufficiency</a:t>
            </a:r>
            <a:endParaRPr lang="en-US" sz="1050" dirty="0"/>
          </a:p>
        </p:txBody>
      </p:sp>
      <p:sp>
        <p:nvSpPr>
          <p:cNvPr id="35" name="Pipeline Generate"/>
          <p:cNvSpPr/>
          <p:nvPr/>
        </p:nvSpPr>
        <p:spPr>
          <a:xfrm>
            <a:off x="8976534" y="3474720"/>
            <a:ext cx="1261872" cy="914400"/>
          </a:xfrm>
          <a:prstGeom prst="roundRect">
            <a:avLst>
              <a:gd name="adj" fmla="val 8000"/>
            </a:avLst>
          </a:prstGeom>
          <a:solidFill>
            <a:srgbClr val="2A2A22"/>
          </a:solidFill>
          <a:ln w="9525">
            <a:solidFill>
              <a:srgbClr val="C5A059"/>
            </a:solidFill>
            <a:prstDash val="solid"/>
          </a:ln>
        </p:spPr>
      </p:sp>
      <p:sp>
        <p:nvSpPr>
          <p:cNvPr id="36" name="Text 34"/>
          <p:cNvSpPr txBox="1"/>
          <p:nvPr/>
        </p:nvSpPr>
        <p:spPr>
          <a:xfrm>
            <a:off x="9067974"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Generate</a:t>
            </a:r>
            <a:endParaRPr lang="en-US" sz="1350" dirty="0"/>
          </a:p>
        </p:txBody>
      </p:sp>
      <p:sp>
        <p:nvSpPr>
          <p:cNvPr id="37" name="Text 35"/>
          <p:cNvSpPr txBox="1"/>
          <p:nvPr/>
        </p:nvSpPr>
        <p:spPr>
          <a:xfrm>
            <a:off x="9067974"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Gemini 3.5 Flash JSON</a:t>
            </a:r>
            <a:endParaRPr lang="en-US" sz="1050" dirty="0"/>
          </a:p>
        </p:txBody>
      </p:sp>
      <p:sp>
        <p:nvSpPr>
          <p:cNvPr id="38" name="Pipeline Validate"/>
          <p:cNvSpPr/>
          <p:nvPr/>
        </p:nvSpPr>
        <p:spPr>
          <a:xfrm>
            <a:off x="10381183" y="3474720"/>
            <a:ext cx="1261872" cy="914400"/>
          </a:xfrm>
          <a:prstGeom prst="roundRect">
            <a:avLst>
              <a:gd name="adj" fmla="val 8000"/>
            </a:avLst>
          </a:prstGeom>
          <a:solidFill>
            <a:srgbClr val="2A2A22"/>
          </a:solidFill>
          <a:ln w="9525">
            <a:solidFill>
              <a:srgbClr val="C5A059"/>
            </a:solidFill>
            <a:prstDash val="solid"/>
          </a:ln>
        </p:spPr>
      </p:sp>
      <p:sp>
        <p:nvSpPr>
          <p:cNvPr id="39" name="Text 37"/>
          <p:cNvSpPr txBox="1"/>
          <p:nvPr/>
        </p:nvSpPr>
        <p:spPr>
          <a:xfrm>
            <a:off x="10472623" y="3547872"/>
            <a:ext cx="1078992" cy="274320"/>
          </a:xfrm>
          <a:prstGeom prst="rect">
            <a:avLst/>
          </a:prstGeom>
          <a:noFill/>
          <a:ln/>
        </p:spPr>
        <p:txBody>
          <a:bodyPr wrap="square" lIns="0" tIns="0" rIns="0" bIns="0" rtlCol="0" anchor="ctr"/>
          <a:lstStyle/>
          <a:p>
            <a:pPr indent="0" marL="0">
              <a:buNone/>
            </a:pPr>
            <a:r>
              <a:rPr lang="en-US" sz="1350" b="1" dirty="0">
                <a:solidFill>
                  <a:schemeClr val="bg1"/>
                </a:solidFill>
              </a:rPr>
              <a:t>Validate</a:t>
            </a:r>
            <a:endParaRPr lang="en-US" sz="1350" dirty="0"/>
          </a:p>
        </p:txBody>
      </p:sp>
      <p:sp>
        <p:nvSpPr>
          <p:cNvPr id="40" name="Text 38"/>
          <p:cNvSpPr txBox="1"/>
          <p:nvPr/>
        </p:nvSpPr>
        <p:spPr>
          <a:xfrm>
            <a:off x="10472623" y="3840480"/>
            <a:ext cx="1097280" cy="502920"/>
          </a:xfrm>
          <a:prstGeom prst="rect">
            <a:avLst/>
          </a:prstGeom>
          <a:noFill/>
          <a:ln/>
        </p:spPr>
        <p:txBody>
          <a:bodyPr wrap="square" lIns="0" tIns="0" rIns="0" bIns="0" rtlCol="0" anchor="t"/>
          <a:lstStyle/>
          <a:p>
            <a:pPr indent="0" marL="0">
              <a:buNone/>
            </a:pPr>
            <a:r>
              <a:rPr lang="en-US" sz="1050" dirty="0">
                <a:solidFill>
                  <a:schemeClr val="bg2"/>
                </a:solidFill>
              </a:rPr>
              <a:t>Exact-quote match</a:t>
            </a:r>
            <a:endParaRPr lang="en-US" sz="1050" dirty="0"/>
          </a:p>
        </p:txBody>
      </p:sp>
      <p:sp>
        <p:nvSpPr>
          <p:cNvPr id="41" name="Text 39"/>
          <p:cNvSpPr txBox="1"/>
          <p:nvPr/>
        </p:nvSpPr>
        <p:spPr>
          <a:xfrm>
            <a:off x="548640" y="4480560"/>
            <a:ext cx="11094415" cy="256032"/>
          </a:xfrm>
          <a:prstGeom prst="rect">
            <a:avLst/>
          </a:prstGeom>
          <a:noFill/>
          <a:ln/>
        </p:spPr>
        <p:txBody>
          <a:bodyPr wrap="square" lIns="0" tIns="0" rIns="0" bIns="0" rtlCol="0" anchor="ctr"/>
          <a:lstStyle/>
          <a:p>
            <a:pPr indent="0" marL="0">
              <a:buNone/>
            </a:pPr>
            <a:r>
              <a:rPr lang="en-US" sz="1150" i="1" dirty="0">
                <a:solidFill>
                  <a:schemeClr val="bg2"/>
                </a:solidFill>
              </a:rPr>
              <a:t>Fallbacks keep it running: LSA embeddings if the embedding API fails; a verbatim-sentence extractive generator if the LLM fails.</a:t>
            </a:r>
            <a:endParaRPr lang="en-US" sz="1150" dirty="0"/>
          </a:p>
        </p:txBody>
      </p:sp>
      <p:sp>
        <p:nvSpPr>
          <p:cNvPr id="42" name="Answer output box"/>
          <p:cNvSpPr/>
          <p:nvPr/>
        </p:nvSpPr>
        <p:spPr>
          <a:xfrm>
            <a:off x="548640" y="4892040"/>
            <a:ext cx="5486400" cy="1097280"/>
          </a:xfrm>
          <a:prstGeom prst="roundRect">
            <a:avLst>
              <a:gd name="adj" fmla="val 6667"/>
            </a:avLst>
          </a:prstGeom>
          <a:solidFill>
            <a:srgbClr val="202B3D"/>
          </a:solidFill>
          <a:ln w="9525">
            <a:solidFill>
              <a:srgbClr val="33405A"/>
            </a:solidFill>
            <a:prstDash val="solid"/>
          </a:ln>
        </p:spPr>
      </p:sp>
      <p:sp>
        <p:nvSpPr>
          <p:cNvPr id="43" name="Text 41"/>
          <p:cNvSpPr txBox="1"/>
          <p:nvPr/>
        </p:nvSpPr>
        <p:spPr>
          <a:xfrm>
            <a:off x="731520" y="4983480"/>
            <a:ext cx="5120640" cy="274320"/>
          </a:xfrm>
          <a:prstGeom prst="rect">
            <a:avLst/>
          </a:prstGeom>
          <a:noFill/>
          <a:ln/>
        </p:spPr>
        <p:txBody>
          <a:bodyPr wrap="square" lIns="0" tIns="0" rIns="0" bIns="0" rtlCol="0" anchor="ctr"/>
          <a:lstStyle/>
          <a:p>
            <a:pPr indent="0" marL="0">
              <a:buNone/>
            </a:pPr>
            <a:r>
              <a:rPr lang="en-US" sz="1400" b="1" dirty="0">
                <a:solidFill>
                  <a:schemeClr val="bg1"/>
                </a:solidFill>
              </a:rPr>
              <a:t>Answer response</a:t>
            </a:r>
            <a:endParaRPr lang="en-US" sz="1400" dirty="0"/>
          </a:p>
        </p:txBody>
      </p:sp>
      <p:sp>
        <p:nvSpPr>
          <p:cNvPr id="44" name="Text 42"/>
          <p:cNvSpPr txBox="1"/>
          <p:nvPr/>
        </p:nvSpPr>
        <p:spPr>
          <a:xfrm>
            <a:off x="731520" y="5285232"/>
            <a:ext cx="5120640" cy="822960"/>
          </a:xfrm>
          <a:prstGeom prst="rect">
            <a:avLst/>
          </a:prstGeom>
          <a:noFill/>
          <a:ln/>
        </p:spPr>
        <p:txBody>
          <a:bodyPr wrap="square" lIns="0" tIns="0" rIns="0" bIns="0" rtlCol="0" anchor="t"/>
          <a:lstStyle/>
          <a:p>
            <a:pPr indent="0" marL="0">
              <a:buNone/>
            </a:pPr>
            <a:r>
              <a:rPr lang="en-US" sz="1200" dirty="0">
                <a:solidFill>
                  <a:schemeClr val="bg2"/>
                </a:solidFill>
              </a:rPr>
              <a:t>Answer · evidence state · citations (chunk ID, quote, verified flag) · source passages · clause relationships</a:t>
            </a:r>
            <a:endParaRPr lang="en-US" sz="1200" dirty="0"/>
          </a:p>
        </p:txBody>
      </p:sp>
      <p:sp>
        <p:nvSpPr>
          <p:cNvPr id="45" name="Drafting output box"/>
          <p:cNvSpPr/>
          <p:nvPr/>
        </p:nvSpPr>
        <p:spPr>
          <a:xfrm>
            <a:off x="6153912" y="4892040"/>
            <a:ext cx="5486400" cy="1097280"/>
          </a:xfrm>
          <a:prstGeom prst="roundRect">
            <a:avLst>
              <a:gd name="adj" fmla="val 6667"/>
            </a:avLst>
          </a:prstGeom>
          <a:solidFill>
            <a:srgbClr val="202B3D"/>
          </a:solidFill>
          <a:ln w="9525">
            <a:solidFill>
              <a:srgbClr val="33405A"/>
            </a:solidFill>
            <a:prstDash val="solid"/>
          </a:ln>
        </p:spPr>
      </p:sp>
      <p:sp>
        <p:nvSpPr>
          <p:cNvPr id="46" name="Text 44"/>
          <p:cNvSpPr txBox="1"/>
          <p:nvPr/>
        </p:nvSpPr>
        <p:spPr>
          <a:xfrm>
            <a:off x="6336792" y="4983480"/>
            <a:ext cx="5120640" cy="274320"/>
          </a:xfrm>
          <a:prstGeom prst="rect">
            <a:avLst/>
          </a:prstGeom>
          <a:noFill/>
          <a:ln/>
        </p:spPr>
        <p:txBody>
          <a:bodyPr wrap="square" lIns="0" tIns="0" rIns="0" bIns="0" rtlCol="0" anchor="ctr"/>
          <a:lstStyle/>
          <a:p>
            <a:pPr indent="0" marL="0">
              <a:buNone/>
            </a:pPr>
            <a:r>
              <a:rPr lang="en-US" sz="1400" b="1" dirty="0">
                <a:solidFill>
                  <a:schemeClr val="bg1"/>
                </a:solidFill>
              </a:rPr>
              <a:t>Drafting path  (/api/draft/notice)</a:t>
            </a:r>
            <a:endParaRPr lang="en-US" sz="1400" dirty="0"/>
          </a:p>
        </p:txBody>
      </p:sp>
      <p:sp>
        <p:nvSpPr>
          <p:cNvPr id="47" name="Text 45"/>
          <p:cNvSpPr txBox="1"/>
          <p:nvPr/>
        </p:nvSpPr>
        <p:spPr>
          <a:xfrm>
            <a:off x="6336792" y="5285232"/>
            <a:ext cx="5120640" cy="822960"/>
          </a:xfrm>
          <a:prstGeom prst="rect">
            <a:avLst/>
          </a:prstGeom>
          <a:noFill/>
          <a:ln/>
        </p:spPr>
        <p:txBody>
          <a:bodyPr wrap="square" lIns="0" tIns="0" rIns="0" bIns="0" rtlCol="0" anchor="t"/>
          <a:lstStyle/>
          <a:p>
            <a:pPr indent="0" marL="0">
              <a:buNone/>
            </a:pPr>
            <a:r>
              <a:rPr lang="en-US" sz="1200" dirty="0">
                <a:solidFill>
                  <a:schemeClr val="bg2"/>
                </a:solidFill>
              </a:rPr>
              <a:t>Retrieve clauses → template notice (no LLM) → contract quotes, labelled allegations, placeholders, “DRAFT — REQUIRES LAWYER REVIEW”</a:t>
            </a:r>
            <a:endParaRPr lang="en-US" sz="12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EVALUATION &amp; TRUST  ·  GROUNDEDNESS  ·  RETRIEVAL QUALITY</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Evaluated, not asserted</a:t>
            </a:r>
            <a:endParaRPr lang="en-US" sz="3200" dirty="0"/>
          </a:p>
        </p:txBody>
      </p:sp>
      <p:sp>
        <p:nvSpPr>
          <p:cNvPr id="4" name="Text 2"/>
          <p:cNvSpPr txBox="1"/>
          <p:nvPr/>
        </p:nvSpPr>
        <p:spPr>
          <a:xfrm>
            <a:off x="548640" y="1481328"/>
            <a:ext cx="5394960" cy="292608"/>
          </a:xfrm>
          <a:prstGeom prst="rect">
            <a:avLst/>
          </a:prstGeom>
          <a:noFill/>
          <a:ln/>
        </p:spPr>
        <p:txBody>
          <a:bodyPr wrap="square" lIns="0" tIns="0" rIns="0" bIns="0" rtlCol="0" anchor="ctr"/>
          <a:lstStyle/>
          <a:p>
            <a:pPr indent="0" marL="0">
              <a:buNone/>
            </a:pPr>
            <a:r>
              <a:rPr lang="en-US" sz="1500" b="1" dirty="0">
                <a:solidFill>
                  <a:schemeClr val="bg1"/>
                </a:solidFill>
              </a:rPr>
              <a:t>Real-LLM baseline · plain hybrid RAG</a:t>
            </a:r>
            <a:endParaRPr lang="en-US" sz="1500" dirty="0"/>
          </a:p>
        </p:txBody>
      </p:sp>
      <p:sp>
        <p:nvSpPr>
          <p:cNvPr id="5" name="Text 3"/>
          <p:cNvSpPr txBox="1"/>
          <p:nvPr/>
        </p:nvSpPr>
        <p:spPr>
          <a:xfrm>
            <a:off x="548640" y="1783080"/>
            <a:ext cx="5394960" cy="457200"/>
          </a:xfrm>
          <a:prstGeom prst="rect">
            <a:avLst/>
          </a:prstGeom>
          <a:noFill/>
          <a:ln/>
        </p:spPr>
        <p:txBody>
          <a:bodyPr wrap="square" lIns="0" tIns="0" rIns="0" bIns="0" rtlCol="0" anchor="t"/>
          <a:lstStyle/>
          <a:p>
            <a:pPr indent="0" marL="0">
              <a:buNone/>
            </a:pPr>
            <a:r>
              <a:rPr lang="en-US" sz="1150" dirty="0">
                <a:solidFill>
                  <a:schemeClr val="bg2"/>
                </a:solidFill>
              </a:rPr>
              <a:t>Gemini 3.5 Flash + gemini-embedding-001 · 16 questions (8 answerable, 4 unanswerable, 4 adversarial) · internal technical corpus</a:t>
            </a:r>
            <a:endParaRPr lang="en-US" sz="1150" dirty="0"/>
          </a:p>
        </p:txBody>
      </p:sp>
      <p:sp>
        <p:nvSpPr>
          <p:cNvPr id="6" name="Stat Recall@4"/>
          <p:cNvSpPr/>
          <p:nvPr/>
        </p:nvSpPr>
        <p:spPr>
          <a:xfrm>
            <a:off x="548640" y="2331720"/>
            <a:ext cx="2606040" cy="1280160"/>
          </a:xfrm>
          <a:prstGeom prst="roundRect">
            <a:avLst>
              <a:gd name="adj" fmla="val 5714"/>
            </a:avLst>
          </a:prstGeom>
          <a:solidFill>
            <a:srgbClr val="202B3D"/>
          </a:solidFill>
          <a:ln w="9525">
            <a:solidFill>
              <a:srgbClr val="33405A"/>
            </a:solidFill>
            <a:prstDash val="solid"/>
          </a:ln>
        </p:spPr>
      </p:sp>
      <p:sp>
        <p:nvSpPr>
          <p:cNvPr id="7" name="Text 5"/>
          <p:cNvSpPr txBox="1"/>
          <p:nvPr/>
        </p:nvSpPr>
        <p:spPr>
          <a:xfrm>
            <a:off x="731520" y="2441448"/>
            <a:ext cx="2286000" cy="594360"/>
          </a:xfrm>
          <a:prstGeom prst="rect">
            <a:avLst/>
          </a:prstGeom>
          <a:noFill/>
          <a:ln/>
        </p:spPr>
        <p:txBody>
          <a:bodyPr wrap="square" lIns="0" tIns="0" rIns="0" bIns="0" rtlCol="0" anchor="ctr"/>
          <a:lstStyle/>
          <a:p>
            <a:pPr indent="0" marL="0">
              <a:buNone/>
            </a:pPr>
            <a:r>
              <a:rPr lang="en-US" sz="3400" dirty="0">
                <a:solidFill>
                  <a:schemeClr val="accent1"/>
                </a:solidFill>
                <a:latin typeface="Georgia" pitchFamily="34" charset="0"/>
                <a:ea typeface="Georgia" pitchFamily="34" charset="-122"/>
                <a:cs typeface="Georgia" pitchFamily="34" charset="-120"/>
              </a:rPr>
              <a:t>100%</a:t>
            </a:r>
            <a:endParaRPr lang="en-US" sz="3400" dirty="0"/>
          </a:p>
        </p:txBody>
      </p:sp>
      <p:sp>
        <p:nvSpPr>
          <p:cNvPr id="8" name="Text 6"/>
          <p:cNvSpPr txBox="1"/>
          <p:nvPr/>
        </p:nvSpPr>
        <p:spPr>
          <a:xfrm>
            <a:off x="731520" y="3044952"/>
            <a:ext cx="2331720" cy="502920"/>
          </a:xfrm>
          <a:prstGeom prst="rect">
            <a:avLst/>
          </a:prstGeom>
          <a:noFill/>
          <a:ln/>
        </p:spPr>
        <p:txBody>
          <a:bodyPr wrap="square" lIns="0" tIns="0" rIns="0" bIns="0" rtlCol="0" anchor="t"/>
          <a:lstStyle/>
          <a:p>
            <a:pPr indent="0" marL="0">
              <a:buNone/>
            </a:pPr>
            <a:r>
              <a:rPr lang="en-US" sz="1200" b="1" dirty="0">
                <a:solidFill>
                  <a:srgbClr val="F4F0E8"/>
                </a:solidFill>
              </a:rPr>
              <a:t>Recall@4</a:t>
            </a:r>
            <a:endParaRPr lang="en-US" sz="1200" dirty="0"/>
          </a:p>
          <a:p>
            <a:pPr indent="0" marL="0">
              <a:buNone/>
            </a:pPr>
            <a:r>
              <a:rPr lang="en-US" sz="1200" dirty="0">
                <a:solidFill>
                  <a:srgbClr val="AEB6C4"/>
                </a:solidFill>
              </a:rPr>
              <a:t>right document retrieved</a:t>
            </a:r>
            <a:endParaRPr lang="en-US" sz="1200" dirty="0"/>
          </a:p>
        </p:txBody>
      </p:sp>
      <p:sp>
        <p:nvSpPr>
          <p:cNvPr id="9" name="Stat Abstention decisions"/>
          <p:cNvSpPr/>
          <p:nvPr/>
        </p:nvSpPr>
        <p:spPr>
          <a:xfrm>
            <a:off x="3291840" y="2331720"/>
            <a:ext cx="2606040" cy="1280160"/>
          </a:xfrm>
          <a:prstGeom prst="roundRect">
            <a:avLst>
              <a:gd name="adj" fmla="val 5714"/>
            </a:avLst>
          </a:prstGeom>
          <a:solidFill>
            <a:srgbClr val="202B3D"/>
          </a:solidFill>
          <a:ln w="9525">
            <a:solidFill>
              <a:srgbClr val="33405A"/>
            </a:solidFill>
            <a:prstDash val="solid"/>
          </a:ln>
        </p:spPr>
      </p:sp>
      <p:sp>
        <p:nvSpPr>
          <p:cNvPr id="10" name="Text 8"/>
          <p:cNvSpPr txBox="1"/>
          <p:nvPr/>
        </p:nvSpPr>
        <p:spPr>
          <a:xfrm>
            <a:off x="3474720" y="2441448"/>
            <a:ext cx="2286000" cy="594360"/>
          </a:xfrm>
          <a:prstGeom prst="rect">
            <a:avLst/>
          </a:prstGeom>
          <a:noFill/>
          <a:ln/>
        </p:spPr>
        <p:txBody>
          <a:bodyPr wrap="square" lIns="0" tIns="0" rIns="0" bIns="0" rtlCol="0" anchor="ctr"/>
          <a:lstStyle/>
          <a:p>
            <a:pPr indent="0" marL="0">
              <a:buNone/>
            </a:pPr>
            <a:r>
              <a:rPr lang="en-US" sz="3400" dirty="0">
                <a:solidFill>
                  <a:schemeClr val="accent1"/>
                </a:solidFill>
                <a:latin typeface="Georgia" pitchFamily="34" charset="0"/>
                <a:ea typeface="Georgia" pitchFamily="34" charset="-122"/>
                <a:cs typeface="Georgia" pitchFamily="34" charset="-120"/>
              </a:rPr>
              <a:t>15/16</a:t>
            </a:r>
            <a:endParaRPr lang="en-US" sz="3400" dirty="0"/>
          </a:p>
        </p:txBody>
      </p:sp>
      <p:sp>
        <p:nvSpPr>
          <p:cNvPr id="11" name="Text 9"/>
          <p:cNvSpPr txBox="1"/>
          <p:nvPr/>
        </p:nvSpPr>
        <p:spPr>
          <a:xfrm>
            <a:off x="3474720" y="3044952"/>
            <a:ext cx="2331720" cy="502920"/>
          </a:xfrm>
          <a:prstGeom prst="rect">
            <a:avLst/>
          </a:prstGeom>
          <a:noFill/>
          <a:ln/>
        </p:spPr>
        <p:txBody>
          <a:bodyPr wrap="square" lIns="0" tIns="0" rIns="0" bIns="0" rtlCol="0" anchor="t"/>
          <a:lstStyle/>
          <a:p>
            <a:pPr indent="0" marL="0">
              <a:buNone/>
            </a:pPr>
            <a:r>
              <a:rPr lang="en-US" sz="1200" b="1" dirty="0">
                <a:solidFill>
                  <a:srgbClr val="F4F0E8"/>
                </a:solidFill>
              </a:rPr>
              <a:t>Abstention decisions</a:t>
            </a:r>
            <a:endParaRPr lang="en-US" sz="1200" dirty="0"/>
          </a:p>
          <a:p>
            <a:pPr indent="0" marL="0">
              <a:buNone/>
            </a:pPr>
            <a:r>
              <a:rPr lang="en-US" sz="1200" dirty="0">
                <a:solidFill>
                  <a:srgbClr val="AEB6C4"/>
                </a:solidFill>
              </a:rPr>
              <a:t>correct</a:t>
            </a:r>
            <a:endParaRPr lang="en-US" sz="1200" dirty="0"/>
          </a:p>
        </p:txBody>
      </p:sp>
      <p:sp>
        <p:nvSpPr>
          <p:cNvPr id="12" name="Stat Citations to chunks"/>
          <p:cNvSpPr/>
          <p:nvPr/>
        </p:nvSpPr>
        <p:spPr>
          <a:xfrm>
            <a:off x="548640" y="3749040"/>
            <a:ext cx="2606040" cy="1280160"/>
          </a:xfrm>
          <a:prstGeom prst="roundRect">
            <a:avLst>
              <a:gd name="adj" fmla="val 5714"/>
            </a:avLst>
          </a:prstGeom>
          <a:solidFill>
            <a:srgbClr val="202B3D"/>
          </a:solidFill>
          <a:ln w="9525">
            <a:solidFill>
              <a:srgbClr val="33405A"/>
            </a:solidFill>
            <a:prstDash val="solid"/>
          </a:ln>
        </p:spPr>
      </p:sp>
      <p:sp>
        <p:nvSpPr>
          <p:cNvPr id="13" name="Text 11"/>
          <p:cNvSpPr txBox="1"/>
          <p:nvPr/>
        </p:nvSpPr>
        <p:spPr>
          <a:xfrm>
            <a:off x="731520" y="3858768"/>
            <a:ext cx="2286000" cy="594360"/>
          </a:xfrm>
          <a:prstGeom prst="rect">
            <a:avLst/>
          </a:prstGeom>
          <a:noFill/>
          <a:ln/>
        </p:spPr>
        <p:txBody>
          <a:bodyPr wrap="square" lIns="0" tIns="0" rIns="0" bIns="0" rtlCol="0" anchor="ctr"/>
          <a:lstStyle/>
          <a:p>
            <a:pPr indent="0" marL="0">
              <a:buNone/>
            </a:pPr>
            <a:r>
              <a:rPr lang="en-US" sz="3400" dirty="0">
                <a:solidFill>
                  <a:schemeClr val="accent1"/>
                </a:solidFill>
                <a:latin typeface="Georgia" pitchFamily="34" charset="0"/>
                <a:ea typeface="Georgia" pitchFamily="34" charset="-122"/>
                <a:cs typeface="Georgia" pitchFamily="34" charset="-120"/>
              </a:rPr>
              <a:t>0</a:t>
            </a:r>
            <a:endParaRPr lang="en-US" sz="3400" dirty="0"/>
          </a:p>
        </p:txBody>
      </p:sp>
      <p:sp>
        <p:nvSpPr>
          <p:cNvPr id="14" name="Text 12"/>
          <p:cNvSpPr txBox="1"/>
          <p:nvPr/>
        </p:nvSpPr>
        <p:spPr>
          <a:xfrm>
            <a:off x="731520" y="4462272"/>
            <a:ext cx="2331720" cy="502920"/>
          </a:xfrm>
          <a:prstGeom prst="rect">
            <a:avLst/>
          </a:prstGeom>
          <a:noFill/>
          <a:ln/>
        </p:spPr>
        <p:txBody>
          <a:bodyPr wrap="square" lIns="0" tIns="0" rIns="0" bIns="0" rtlCol="0" anchor="t"/>
          <a:lstStyle/>
          <a:p>
            <a:pPr indent="0" marL="0">
              <a:buNone/>
            </a:pPr>
            <a:r>
              <a:rPr lang="en-US" sz="1200" b="1" dirty="0">
                <a:solidFill>
                  <a:srgbClr val="F4F0E8"/>
                </a:solidFill>
              </a:rPr>
              <a:t>Citations to chunks</a:t>
            </a:r>
            <a:endParaRPr lang="en-US" sz="1200" dirty="0"/>
          </a:p>
          <a:p>
            <a:pPr indent="0" marL="0">
              <a:buNone/>
            </a:pPr>
            <a:r>
              <a:rPr lang="en-US" sz="1200" dirty="0">
                <a:solidFill>
                  <a:srgbClr val="AEB6C4"/>
                </a:solidFill>
              </a:rPr>
              <a:t>outside the retrieved set</a:t>
            </a:r>
            <a:endParaRPr lang="en-US" sz="1200" dirty="0"/>
          </a:p>
        </p:txBody>
      </p:sp>
      <p:sp>
        <p:nvSpPr>
          <p:cNvPr id="15" name="Stat Cited quotes"/>
          <p:cNvSpPr/>
          <p:nvPr/>
        </p:nvSpPr>
        <p:spPr>
          <a:xfrm>
            <a:off x="3291840" y="3749040"/>
            <a:ext cx="2606040" cy="1280160"/>
          </a:xfrm>
          <a:prstGeom prst="roundRect">
            <a:avLst>
              <a:gd name="adj" fmla="val 5714"/>
            </a:avLst>
          </a:prstGeom>
          <a:solidFill>
            <a:srgbClr val="202B3D"/>
          </a:solidFill>
          <a:ln w="9525">
            <a:solidFill>
              <a:srgbClr val="33405A"/>
            </a:solidFill>
            <a:prstDash val="solid"/>
          </a:ln>
        </p:spPr>
      </p:sp>
      <p:sp>
        <p:nvSpPr>
          <p:cNvPr id="16" name="Text 14"/>
          <p:cNvSpPr txBox="1"/>
          <p:nvPr/>
        </p:nvSpPr>
        <p:spPr>
          <a:xfrm>
            <a:off x="3474720" y="3858768"/>
            <a:ext cx="2286000" cy="594360"/>
          </a:xfrm>
          <a:prstGeom prst="rect">
            <a:avLst/>
          </a:prstGeom>
          <a:noFill/>
          <a:ln/>
        </p:spPr>
        <p:txBody>
          <a:bodyPr wrap="square" lIns="0" tIns="0" rIns="0" bIns="0" rtlCol="0" anchor="ctr"/>
          <a:lstStyle/>
          <a:p>
            <a:pPr indent="0" marL="0">
              <a:buNone/>
            </a:pPr>
            <a:r>
              <a:rPr lang="en-US" sz="3400" dirty="0">
                <a:solidFill>
                  <a:schemeClr val="accent1"/>
                </a:solidFill>
                <a:latin typeface="Georgia" pitchFamily="34" charset="0"/>
                <a:ea typeface="Georgia" pitchFamily="34" charset="-122"/>
                <a:cs typeface="Georgia" pitchFamily="34" charset="-120"/>
              </a:rPr>
              <a:t>25/28</a:t>
            </a:r>
            <a:endParaRPr lang="en-US" sz="3400" dirty="0"/>
          </a:p>
        </p:txBody>
      </p:sp>
      <p:sp>
        <p:nvSpPr>
          <p:cNvPr id="17" name="Text 15"/>
          <p:cNvSpPr txBox="1"/>
          <p:nvPr/>
        </p:nvSpPr>
        <p:spPr>
          <a:xfrm>
            <a:off x="3474720" y="4462272"/>
            <a:ext cx="2331720" cy="502920"/>
          </a:xfrm>
          <a:prstGeom prst="rect">
            <a:avLst/>
          </a:prstGeom>
          <a:noFill/>
          <a:ln/>
        </p:spPr>
        <p:txBody>
          <a:bodyPr wrap="square" lIns="0" tIns="0" rIns="0" bIns="0" rtlCol="0" anchor="t"/>
          <a:lstStyle/>
          <a:p>
            <a:pPr indent="0" marL="0">
              <a:buNone/>
            </a:pPr>
            <a:r>
              <a:rPr lang="en-US" sz="1200" b="1" dirty="0">
                <a:solidFill>
                  <a:srgbClr val="F4F0E8"/>
                </a:solidFill>
              </a:rPr>
              <a:t>Cited quotes</a:t>
            </a:r>
            <a:endParaRPr lang="en-US" sz="1200" dirty="0"/>
          </a:p>
          <a:p>
            <a:pPr indent="0" marL="0">
              <a:buNone/>
            </a:pPr>
            <a:r>
              <a:rPr lang="en-US" sz="1200" dirty="0">
                <a:solidFill>
                  <a:srgbClr val="AEB6C4"/>
                </a:solidFill>
              </a:rPr>
              <a:t>exact match to source</a:t>
            </a:r>
            <a:endParaRPr lang="en-US" sz="1200" dirty="0"/>
          </a:p>
        </p:txBody>
      </p:sp>
      <p:sp>
        <p:nvSpPr>
          <p:cNvPr id="18" name="Text 16"/>
          <p:cNvSpPr txBox="1"/>
          <p:nvPr/>
        </p:nvSpPr>
        <p:spPr>
          <a:xfrm>
            <a:off x="6263640" y="1481328"/>
            <a:ext cx="5376672" cy="292608"/>
          </a:xfrm>
          <a:prstGeom prst="rect">
            <a:avLst/>
          </a:prstGeom>
          <a:noFill/>
          <a:ln/>
        </p:spPr>
        <p:txBody>
          <a:bodyPr wrap="square" lIns="0" tIns="0" rIns="0" bIns="0" rtlCol="0" anchor="ctr"/>
          <a:lstStyle/>
          <a:p>
            <a:pPr indent="0" marL="0">
              <a:buNone/>
            </a:pPr>
            <a:r>
              <a:rPr lang="en-US" sz="1500" b="1" dirty="0">
                <a:solidFill>
                  <a:schemeClr val="bg1"/>
                </a:solidFill>
              </a:rPr>
              <a:t>Adversarial legal stress test · 25 cases</a:t>
            </a:r>
            <a:endParaRPr lang="en-US" sz="1500" dirty="0"/>
          </a:p>
        </p:txBody>
      </p:sp>
      <p:sp>
        <p:nvSpPr>
          <p:cNvPr id="19" name="Text 17"/>
          <p:cNvSpPr txBox="1"/>
          <p:nvPr/>
        </p:nvSpPr>
        <p:spPr>
          <a:xfrm>
            <a:off x="6263640" y="1783080"/>
            <a:ext cx="5376672" cy="457200"/>
          </a:xfrm>
          <a:prstGeom prst="rect">
            <a:avLst/>
          </a:prstGeom>
          <a:noFill/>
          <a:ln/>
        </p:spPr>
        <p:txBody>
          <a:bodyPr wrap="square" lIns="0" tIns="0" rIns="0" bIns="0" rtlCol="0" anchor="t"/>
          <a:lstStyle/>
          <a:p>
            <a:pPr indent="0" marL="0">
              <a:buNone/>
            </a:pPr>
            <a:r>
              <a:rPr lang="en-US" sz="1150" dirty="0">
                <a:solidFill>
                  <a:schemeClr val="bg2"/>
                </a:solidFill>
              </a:rPr>
              <a:t>Baseline RAG vs JC-PAR (jurisdiction routing + clause expansion + sufficiency gate)</a:t>
            </a:r>
            <a:endParaRPr lang="en-US" sz="1150" dirty="0"/>
          </a:p>
        </p:txBody>
      </p:sp>
      <p:graphicFrame>
        <p:nvGraphicFramePr>
          <p:cNvPr id="20" name="Stress test chart" descr=""/>
          <p:cNvGraphicFramePr/>
          <p:nvPr/>
        </p:nvGraphicFramePr>
        <p:xfrm>
          <a:off x="6172200" y="2194560"/>
          <a:ext cx="5468112" cy="2852928"/>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6263640" y="5074920"/>
            <a:ext cx="5376672" cy="640080"/>
          </a:xfrm>
          <a:prstGeom prst="rect">
            <a:avLst/>
          </a:prstGeom>
          <a:noFill/>
          <a:ln/>
        </p:spPr>
        <p:txBody>
          <a:bodyPr wrap="square" lIns="0" tIns="0" rIns="0" bIns="0" rtlCol="0" anchor="t"/>
          <a:lstStyle/>
          <a:p>
            <a:pPr indent="0" marL="0">
              <a:buNone/>
            </a:pPr>
            <a:r>
              <a:rPr lang="en-US" sz="1050" i="1" dirty="0">
                <a:solidFill>
                  <a:schemeClr val="bg2"/>
                </a:solidFill>
              </a:rPr>
              <a:t>↓ lower is better · ↑ higher is better. Supported = strictly supported answers; abstention = correct on 3 unanswerable cases (0/3 → 3/3). Extractive generator, 8 Oct code snapshot. Recall@5 fell — an open problem we report, not hide.</a:t>
            </a:r>
            <a:endParaRPr lang="en-US" sz="1050" dirty="0"/>
          </a:p>
        </p:txBody>
      </p:sp>
      <p:sp>
        <p:nvSpPr>
          <p:cNvPr id="22" name="Tests strip"/>
          <p:cNvSpPr/>
          <p:nvPr/>
        </p:nvSpPr>
        <p:spPr>
          <a:xfrm>
            <a:off x="548640" y="5257800"/>
            <a:ext cx="5349240" cy="960120"/>
          </a:xfrm>
          <a:prstGeom prst="roundRect">
            <a:avLst>
              <a:gd name="adj" fmla="val 7619"/>
            </a:avLst>
          </a:prstGeom>
          <a:solidFill>
            <a:srgbClr val="101827"/>
          </a:solidFill>
          <a:ln w="9525">
            <a:solidFill>
              <a:srgbClr val="C5A059"/>
            </a:solidFill>
            <a:prstDash val="solid"/>
          </a:ln>
        </p:spPr>
      </p:sp>
      <p:sp>
        <p:nvSpPr>
          <p:cNvPr id="23" name="Text 20"/>
          <p:cNvSpPr txBox="1"/>
          <p:nvPr/>
        </p:nvSpPr>
        <p:spPr>
          <a:xfrm>
            <a:off x="731520" y="5330952"/>
            <a:ext cx="5029200" cy="822960"/>
          </a:xfrm>
          <a:prstGeom prst="rect">
            <a:avLst/>
          </a:prstGeom>
          <a:noFill/>
          <a:ln/>
        </p:spPr>
        <p:txBody>
          <a:bodyPr wrap="square" lIns="0" tIns="0" rIns="0" bIns="0" rtlCol="0" anchor="ctr"/>
          <a:lstStyle/>
          <a:p>
            <a:pPr indent="0" marL="0">
              <a:buNone/>
            </a:pPr>
            <a:r>
              <a:rPr lang="en-US" sz="1150" b="1" dirty="0">
                <a:solidFill>
                  <a:srgbClr val="F4F0E8"/>
                </a:solidFill>
              </a:rPr>
              <a:t>34 / 34 automated tests pass </a:t>
            </a:r>
            <a:pPr indent="0" marL="0">
              <a:buNone/>
            </a:pPr>
            <a:r>
              <a:rPr lang="en-US" sz="1150" dirty="0">
                <a:solidFill>
                  <a:srgbClr val="AEB6C4"/>
                </a:solidFill>
              </a:rPr>
              <a:t>(9 Oct) — including 10 unseen-contract scenarios: verbatim spans, §2.3↔§2.2 links, abstention, document isolation, injected-instruction text.</a:t>
            </a:r>
            <a:endParaRPr lang="en-US" sz="1150" dirty="0"/>
          </a:p>
        </p:txBody>
      </p:sp>
      <p:sp>
        <p:nvSpPr>
          <p:cNvPr id="24" name="Text 21"/>
          <p:cNvSpPr txBox="1"/>
          <p:nvPr/>
        </p:nvSpPr>
        <p:spPr>
          <a:xfrm>
            <a:off x="6263640" y="5788152"/>
            <a:ext cx="5376672" cy="457200"/>
          </a:xfrm>
          <a:prstGeom prst="rect">
            <a:avLst/>
          </a:prstGeom>
          <a:noFill/>
          <a:ln/>
        </p:spPr>
        <p:txBody>
          <a:bodyPr wrap="square" lIns="0" tIns="0" rIns="0" bIns="0" rtlCol="0" anchor="t"/>
          <a:lstStyle/>
          <a:p>
            <a:pPr indent="0" marL="0">
              <a:buNone/>
            </a:pPr>
            <a:r>
              <a:rPr lang="en-US" sz="1100" b="1" dirty="0">
                <a:solidFill>
                  <a:srgbClr val="E2A93B"/>
                </a:solidFill>
              </a:rPr>
              <a:t>Not yet measured: </a:t>
            </a:r>
            <a:pPr indent="0" marL="0">
              <a:buNone/>
            </a:pPr>
            <a:r>
              <a:rPr lang="en-US" sz="1100" dirty="0">
                <a:solidFill>
                  <a:srgbClr val="AEB6C4"/>
                </a:solidFill>
              </a:rPr>
              <a:t>claim-level entailment · lawyer-rated usefulness · real-LLM run on the legal stress set</a:t>
            </a:r>
            <a:endParaRPr lang="en-US" sz="11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USEFULNESS, LIMITATIONS &amp; NEXT STEPS</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Useful today, honest about its limits</a:t>
            </a:r>
            <a:endParaRPr lang="en-US" sz="3200" dirty="0"/>
          </a:p>
        </p:txBody>
      </p:sp>
      <p:sp>
        <p:nvSpPr>
          <p:cNvPr id="4" name="INTENDED VALUE"/>
          <p:cNvSpPr/>
          <p:nvPr/>
        </p:nvSpPr>
        <p:spPr>
          <a:xfrm>
            <a:off x="548640" y="1554480"/>
            <a:ext cx="3515258" cy="4069080"/>
          </a:xfrm>
          <a:prstGeom prst="roundRect">
            <a:avLst>
              <a:gd name="adj" fmla="val 2081"/>
            </a:avLst>
          </a:prstGeom>
          <a:solidFill>
            <a:srgbClr val="202B3D"/>
          </a:solidFill>
          <a:ln w="9525">
            <a:solidFill>
              <a:srgbClr val="33405A"/>
            </a:solidFill>
            <a:prstDash val="solid"/>
          </a:ln>
        </p:spPr>
      </p:sp>
      <p:sp>
        <p:nvSpPr>
          <p:cNvPr id="5" name="Text 3"/>
          <p:cNvSpPr txBox="1"/>
          <p:nvPr/>
        </p:nvSpPr>
        <p:spPr>
          <a:xfrm>
            <a:off x="777240" y="1719072"/>
            <a:ext cx="3058058" cy="274320"/>
          </a:xfrm>
          <a:prstGeom prst="rect">
            <a:avLst/>
          </a:prstGeom>
          <a:noFill/>
          <a:ln/>
        </p:spPr>
        <p:txBody>
          <a:bodyPr wrap="square" lIns="0" tIns="0" rIns="0" bIns="0" rtlCol="0" anchor="ctr"/>
          <a:lstStyle/>
          <a:p>
            <a:pPr indent="0" marL="0">
              <a:buNone/>
            </a:pPr>
            <a:r>
              <a:rPr lang="en-US" sz="1200" b="1" spc="200" kern="0" dirty="0">
                <a:solidFill>
                  <a:srgbClr val="C5A059"/>
                </a:solidFill>
              </a:rPr>
              <a:t>INTENDED VALUE</a:t>
            </a:r>
            <a:endParaRPr lang="en-US" sz="1200" dirty="0"/>
          </a:p>
        </p:txBody>
      </p:sp>
      <p:sp>
        <p:nvSpPr>
          <p:cNvPr id="6" name="Text 4"/>
          <p:cNvSpPr txBox="1"/>
          <p:nvPr/>
        </p:nvSpPr>
        <p:spPr>
          <a:xfrm>
            <a:off x="777240" y="2011680"/>
            <a:ext cx="3058058" cy="274320"/>
          </a:xfrm>
          <a:prstGeom prst="rect">
            <a:avLst/>
          </a:prstGeom>
          <a:noFill/>
          <a:ln/>
        </p:spPr>
        <p:txBody>
          <a:bodyPr wrap="square" lIns="0" tIns="0" rIns="0" bIns="0" rtlCol="0" anchor="ctr"/>
          <a:lstStyle/>
          <a:p>
            <a:pPr indent="0" marL="0">
              <a:buNone/>
            </a:pPr>
            <a:r>
              <a:rPr lang="en-US" sz="1100" i="1" dirty="0">
                <a:solidFill>
                  <a:schemeClr val="bg2"/>
                </a:solidFill>
              </a:rPr>
              <a:t>Design goals — not yet measured with lawyers</a:t>
            </a:r>
            <a:endParaRPr lang="en-US" sz="1100" dirty="0"/>
          </a:p>
        </p:txBody>
      </p:sp>
      <p:sp>
        <p:nvSpPr>
          <p:cNvPr id="7" name="Text 5"/>
          <p:cNvSpPr txBox="1"/>
          <p:nvPr/>
        </p:nvSpPr>
        <p:spPr>
          <a:xfrm>
            <a:off x="777240" y="2423160"/>
            <a:ext cx="3103778" cy="31089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Jump to the clause that answers the question</a:t>
            </a:r>
            <a:endParaRPr lang="en-US" sz="1400" dirty="0"/>
          </a:p>
          <a:p>
            <a:pPr marL="177800" indent="-177800">
              <a:spcAft>
                <a:spcPts val="1000"/>
              </a:spcAft>
              <a:buSzPct val="100000"/>
              <a:buChar char="•"/>
            </a:pPr>
            <a:r>
              <a:rPr lang="en-US" sz="1400" dirty="0">
                <a:solidFill>
                  <a:schemeClr val="bg1"/>
                </a:solidFill>
              </a:rPr>
              <a:t>Trace each statement to a quoted source</a:t>
            </a:r>
            <a:endParaRPr lang="en-US" sz="1400" dirty="0"/>
          </a:p>
          <a:p>
            <a:pPr marL="177800" indent="-177800">
              <a:spcAft>
                <a:spcPts val="1000"/>
              </a:spcAft>
              <a:buSzPct val="100000"/>
              <a:buChar char="•"/>
            </a:pPr>
            <a:r>
              <a:rPr lang="en-US" sz="1400" dirty="0">
                <a:solidFill>
                  <a:schemeClr val="bg1"/>
                </a:solidFill>
              </a:rPr>
              <a:t>See exceptions next to the rule they modify</a:t>
            </a:r>
            <a:endParaRPr lang="en-US" sz="1400" dirty="0"/>
          </a:p>
          <a:p>
            <a:pPr marL="177800" indent="-177800">
              <a:spcAft>
                <a:spcPts val="1000"/>
              </a:spcAft>
              <a:buSzPct val="100000"/>
              <a:buChar char="•"/>
            </a:pPr>
            <a:r>
              <a:rPr lang="en-US" sz="1400" dirty="0">
                <a:solidFill>
                  <a:schemeClr val="bg1"/>
                </a:solidFill>
              </a:rPr>
              <a:t>Know when the contract is silent</a:t>
            </a:r>
            <a:endParaRPr lang="en-US" sz="1400" dirty="0"/>
          </a:p>
          <a:p>
            <a:pPr marL="177800" indent="-177800">
              <a:spcAft>
                <a:spcPts val="1000"/>
              </a:spcAft>
              <a:buSzPct val="100000"/>
              <a:buChar char="•"/>
            </a:pPr>
            <a:r>
              <a:rPr lang="en-US" sz="1400" dirty="0">
                <a:solidFill>
                  <a:schemeClr val="bg1"/>
                </a:solidFill>
              </a:rPr>
              <a:t>Start notices from a lawyer-review draft</a:t>
            </a:r>
            <a:endParaRPr lang="en-US" sz="1400" dirty="0"/>
          </a:p>
        </p:txBody>
      </p:sp>
      <p:sp>
        <p:nvSpPr>
          <p:cNvPr id="8" name="LIMITATIONS"/>
          <p:cNvSpPr/>
          <p:nvPr/>
        </p:nvSpPr>
        <p:spPr>
          <a:xfrm>
            <a:off x="4338218" y="1554480"/>
            <a:ext cx="3515258" cy="4069080"/>
          </a:xfrm>
          <a:prstGeom prst="roundRect">
            <a:avLst>
              <a:gd name="adj" fmla="val 2081"/>
            </a:avLst>
          </a:prstGeom>
          <a:solidFill>
            <a:srgbClr val="202B3D"/>
          </a:solidFill>
          <a:ln w="9525">
            <a:solidFill>
              <a:srgbClr val="33405A"/>
            </a:solidFill>
            <a:prstDash val="solid"/>
          </a:ln>
        </p:spPr>
      </p:sp>
      <p:sp>
        <p:nvSpPr>
          <p:cNvPr id="9" name="Text 7"/>
          <p:cNvSpPr txBox="1"/>
          <p:nvPr/>
        </p:nvSpPr>
        <p:spPr>
          <a:xfrm>
            <a:off x="4566818" y="1719072"/>
            <a:ext cx="3058058" cy="274320"/>
          </a:xfrm>
          <a:prstGeom prst="rect">
            <a:avLst/>
          </a:prstGeom>
          <a:noFill/>
          <a:ln/>
        </p:spPr>
        <p:txBody>
          <a:bodyPr wrap="square" lIns="0" tIns="0" rIns="0" bIns="0" rtlCol="0" anchor="ctr"/>
          <a:lstStyle/>
          <a:p>
            <a:pPr indent="0" marL="0">
              <a:buNone/>
            </a:pPr>
            <a:r>
              <a:rPr lang="en-US" sz="1200" b="1" spc="200" kern="0" dirty="0">
                <a:solidFill>
                  <a:srgbClr val="E2A93B"/>
                </a:solidFill>
              </a:rPr>
              <a:t>LIMITATIONS</a:t>
            </a:r>
            <a:endParaRPr lang="en-US" sz="1200" dirty="0"/>
          </a:p>
        </p:txBody>
      </p:sp>
      <p:sp>
        <p:nvSpPr>
          <p:cNvPr id="10" name="Text 8"/>
          <p:cNvSpPr txBox="1"/>
          <p:nvPr/>
        </p:nvSpPr>
        <p:spPr>
          <a:xfrm>
            <a:off x="4566818" y="2011680"/>
            <a:ext cx="3058058" cy="274320"/>
          </a:xfrm>
          <a:prstGeom prst="rect">
            <a:avLst/>
          </a:prstGeom>
          <a:noFill/>
          <a:ln/>
        </p:spPr>
        <p:txBody>
          <a:bodyPr wrap="square" lIns="0" tIns="0" rIns="0" bIns="0" rtlCol="0" anchor="ctr"/>
          <a:lstStyle/>
          <a:p>
            <a:pPr indent="0" marL="0">
              <a:buNone/>
            </a:pPr>
            <a:r>
              <a:rPr lang="en-US" sz="1100" i="1" dirty="0">
                <a:solidFill>
                  <a:schemeClr val="bg2"/>
                </a:solidFill>
              </a:rPr>
              <a:t>What we tell users up front</a:t>
            </a:r>
            <a:endParaRPr lang="en-US" sz="1100" dirty="0"/>
          </a:p>
        </p:txBody>
      </p:sp>
      <p:sp>
        <p:nvSpPr>
          <p:cNvPr id="11" name="Text 9"/>
          <p:cNvSpPr txBox="1"/>
          <p:nvPr/>
        </p:nvSpPr>
        <p:spPr>
          <a:xfrm>
            <a:off x="4566818" y="2423160"/>
            <a:ext cx="3103778" cy="310896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bg1"/>
                </a:solidFill>
              </a:rPr>
              <a:t>A lawyer must still review every output</a:t>
            </a:r>
            <a:endParaRPr lang="en-US" sz="1400" dirty="0"/>
          </a:p>
          <a:p>
            <a:pPr marL="177800" indent="-177800">
              <a:spcAft>
                <a:spcPts val="1000"/>
              </a:spcAft>
              <a:buSzPct val="100000"/>
              <a:buChar char="•"/>
            </a:pPr>
            <a:r>
              <a:rPr lang="en-US" sz="1400" dirty="0">
                <a:solidFill>
                  <a:schemeClr val="bg1"/>
                </a:solidFill>
              </a:rPr>
              <a:t>An exact quote isn't proof the claim is right</a:t>
            </a:r>
            <a:endParaRPr lang="en-US" sz="1400" dirty="0"/>
          </a:p>
          <a:p>
            <a:pPr marL="177800" indent="-177800">
              <a:spcAft>
                <a:spcPts val="1000"/>
              </a:spcAft>
              <a:buSzPct val="100000"/>
              <a:buChar char="•"/>
            </a:pPr>
            <a:r>
              <a:rPr lang="en-US" sz="1400" dirty="0">
                <a:solidFill>
                  <a:schemeClr val="bg1"/>
                </a:solidFill>
              </a:rPr>
              <a:t>Conflict flags rely on the model's classification</a:t>
            </a:r>
            <a:endParaRPr lang="en-US" sz="1400" dirty="0"/>
          </a:p>
          <a:p>
            <a:pPr marL="177800" indent="-177800">
              <a:spcAft>
                <a:spcPts val="1000"/>
              </a:spcAft>
              <a:buSzPct val="100000"/>
              <a:buChar char="•"/>
            </a:pPr>
            <a:r>
              <a:rPr lang="en-US" sz="1400" dirty="0">
                <a:solidFill>
                  <a:schemeClr val="bg1"/>
                </a:solidFill>
              </a:rPr>
              <a:t>Clause expansion lowered Recall@5 (68% → 55%)</a:t>
            </a:r>
            <a:endParaRPr lang="en-US" sz="1400" dirty="0"/>
          </a:p>
          <a:p>
            <a:pPr marL="177800" indent="-177800">
              <a:spcAft>
                <a:spcPts val="1000"/>
              </a:spcAft>
              <a:buSzPct val="100000"/>
              <a:buChar char="•"/>
            </a:pPr>
            <a:r>
              <a:rPr lang="en-US" sz="1400" dirty="0">
                <a:solidFill>
                  <a:schemeClr val="bg1"/>
                </a:solidFill>
              </a:rPr>
              <a:t>PDF, TXT and Markdown only — no DOCX or OCR yet</a:t>
            </a:r>
            <a:endParaRPr lang="en-US" sz="1400" dirty="0"/>
          </a:p>
        </p:txBody>
      </p:sp>
      <p:sp>
        <p:nvSpPr>
          <p:cNvPr id="12" name="Roadmap"/>
          <p:cNvSpPr/>
          <p:nvPr/>
        </p:nvSpPr>
        <p:spPr>
          <a:xfrm>
            <a:off x="8127797" y="1554480"/>
            <a:ext cx="3515258" cy="4069080"/>
          </a:xfrm>
          <a:prstGeom prst="roundRect">
            <a:avLst>
              <a:gd name="adj" fmla="val 2081"/>
            </a:avLst>
          </a:prstGeom>
          <a:solidFill>
            <a:srgbClr val="101827"/>
          </a:solidFill>
          <a:ln w="9525">
            <a:solidFill>
              <a:srgbClr val="C5A059"/>
            </a:solidFill>
            <a:prstDash val="solid"/>
          </a:ln>
        </p:spPr>
      </p:sp>
      <p:sp>
        <p:nvSpPr>
          <p:cNvPr id="13" name="Text 11"/>
          <p:cNvSpPr txBox="1"/>
          <p:nvPr/>
        </p:nvSpPr>
        <p:spPr>
          <a:xfrm>
            <a:off x="8356397" y="1719072"/>
            <a:ext cx="3058058"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ROADMAP</a:t>
            </a:r>
            <a:endParaRPr lang="en-US" sz="1200" dirty="0"/>
          </a:p>
        </p:txBody>
      </p:sp>
      <p:sp>
        <p:nvSpPr>
          <p:cNvPr id="14" name="Text 12"/>
          <p:cNvSpPr txBox="1"/>
          <p:nvPr/>
        </p:nvSpPr>
        <p:spPr>
          <a:xfrm>
            <a:off x="8356397" y="2084832"/>
            <a:ext cx="1828800" cy="228600"/>
          </a:xfrm>
          <a:prstGeom prst="rect">
            <a:avLst/>
          </a:prstGeom>
          <a:noFill/>
          <a:ln/>
        </p:spPr>
        <p:txBody>
          <a:bodyPr wrap="square" lIns="0" tIns="0" rIns="0" bIns="0" rtlCol="0" anchor="ctr"/>
          <a:lstStyle/>
          <a:p>
            <a:pPr indent="0" marL="0">
              <a:buNone/>
            </a:pPr>
            <a:r>
              <a:rPr lang="en-US" sz="1000" b="1" spc="200" kern="0" dirty="0">
                <a:solidFill>
                  <a:srgbClr val="4CB58A"/>
                </a:solidFill>
              </a:rPr>
              <a:t>BUILT</a:t>
            </a:r>
            <a:endParaRPr lang="en-US" sz="1000" dirty="0"/>
          </a:p>
        </p:txBody>
      </p:sp>
      <p:sp>
        <p:nvSpPr>
          <p:cNvPr id="15" name="Text 13"/>
          <p:cNvSpPr txBox="1"/>
          <p:nvPr/>
        </p:nvSpPr>
        <p:spPr>
          <a:xfrm>
            <a:off x="8356397" y="2331720"/>
            <a:ext cx="3103778" cy="1051560"/>
          </a:xfrm>
          <a:prstGeom prst="rect">
            <a:avLst/>
          </a:prstGeom>
          <a:noFill/>
          <a:ln/>
        </p:spPr>
        <p:txBody>
          <a:bodyPr wrap="square" lIns="0" tIns="0" rIns="0" bIns="0" rtlCol="0" anchor="t"/>
          <a:lstStyle/>
          <a:p>
            <a:pPr indent="0" marL="0">
              <a:buNone/>
            </a:pPr>
            <a:r>
              <a:rPr lang="en-US" sz="1300" dirty="0">
                <a:solidFill>
                  <a:schemeClr val="bg2"/>
                </a:solidFill>
              </a:rPr>
              <a:t>Hybrid RRF retrieval · clause expansion · sufficiency gate · quote validation · template drafting · matters &amp; tasks prototype</a:t>
            </a:r>
            <a:endParaRPr lang="en-US" sz="1300" dirty="0"/>
          </a:p>
        </p:txBody>
      </p:sp>
      <p:sp>
        <p:nvSpPr>
          <p:cNvPr id="16" name="Text 14"/>
          <p:cNvSpPr txBox="1"/>
          <p:nvPr/>
        </p:nvSpPr>
        <p:spPr>
          <a:xfrm>
            <a:off x="8356397" y="3474720"/>
            <a:ext cx="1828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NEXT</a:t>
            </a:r>
            <a:endParaRPr lang="en-US" sz="1000" dirty="0"/>
          </a:p>
        </p:txBody>
      </p:sp>
      <p:sp>
        <p:nvSpPr>
          <p:cNvPr id="17" name="Text 15"/>
          <p:cNvSpPr txBox="1"/>
          <p:nvPr/>
        </p:nvSpPr>
        <p:spPr>
          <a:xfrm>
            <a:off x="8356397" y="3730752"/>
            <a:ext cx="3103778"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Claim-level entailment checks</a:t>
            </a:r>
            <a:endParaRPr lang="en-US" sz="1400" dirty="0"/>
          </a:p>
          <a:p>
            <a:pPr marL="177800" indent="-177800">
              <a:spcAft>
                <a:spcPts val="600"/>
              </a:spcAft>
              <a:buSzPct val="100000"/>
              <a:buChar char="•"/>
            </a:pPr>
            <a:r>
              <a:rPr lang="en-US" sz="1400" dirty="0">
                <a:solidFill>
                  <a:schemeClr val="bg1"/>
                </a:solidFill>
              </a:rPr>
              <a:t>Rule-based conflict flag in every answer</a:t>
            </a:r>
            <a:endParaRPr lang="en-US" sz="1400" dirty="0"/>
          </a:p>
          <a:p>
            <a:pPr marL="177800" indent="-177800">
              <a:spcAft>
                <a:spcPts val="600"/>
              </a:spcAft>
              <a:buSzPct val="100000"/>
              <a:buChar char="•"/>
            </a:pPr>
            <a:r>
              <a:rPr lang="en-US" sz="1400" dirty="0">
                <a:solidFill>
                  <a:schemeClr val="bg1"/>
                </a:solidFill>
              </a:rPr>
              <a:t>Fix the expansion recall penalty</a:t>
            </a:r>
            <a:endParaRPr lang="en-US" sz="1400" dirty="0"/>
          </a:p>
          <a:p>
            <a:pPr marL="177800" indent="-177800">
              <a:spcAft>
                <a:spcPts val="600"/>
              </a:spcAft>
              <a:buSzPct val="100000"/>
              <a:buChar char="•"/>
            </a:pPr>
            <a:r>
              <a:rPr lang="en-US" sz="1400" dirty="0">
                <a:solidFill>
                  <a:schemeClr val="bg1"/>
                </a:solidFill>
              </a:rPr>
              <a:t>DOCX and OCR ingestion</a:t>
            </a:r>
            <a:endParaRPr lang="en-US" sz="1400" dirty="0"/>
          </a:p>
          <a:p>
            <a:pPr marL="177800" indent="-177800">
              <a:spcAft>
                <a:spcPts val="600"/>
              </a:spcAft>
              <a:buSzPct val="100000"/>
              <a:buChar char="•"/>
            </a:pPr>
            <a:r>
              <a:rPr lang="en-US" sz="1400" dirty="0">
                <a:solidFill>
                  <a:schemeClr val="bg1"/>
                </a:solidFill>
              </a:rPr>
              <a:t>Evaluation with practising lawyers</a:t>
            </a:r>
            <a:endParaRPr lang="en-US" sz="1400" dirty="0"/>
          </a:p>
        </p:txBody>
      </p:sp>
      <p:sp>
        <p:nvSpPr>
          <p:cNvPr id="18" name="Text 16"/>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700" i="1" dirty="0">
                <a:solidFill>
                  <a:schemeClr val="accent1"/>
                </a:solidFill>
                <a:latin typeface="Georgia" pitchFamily="34" charset="0"/>
                <a:ea typeface="Georgia" pitchFamily="34" charset="-122"/>
                <a:cs typeface="Georgia" pitchFamily="34" charset="-120"/>
              </a:rPr>
              <a:t>Built to help lawyers verify faster — not to replace their judgment.</a:t>
            </a:r>
            <a:endParaRPr lang="en-US" sz="17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05840"/>
            <a:ext cx="3657600" cy="274320"/>
          </a:xfrm>
          <a:prstGeom prst="rect">
            <a:avLst/>
          </a:prstGeom>
          <a:noFill/>
          <a:ln/>
        </p:spPr>
        <p:txBody>
          <a:bodyPr wrap="square" lIns="0" tIns="0" rIns="0" bIns="0" rtlCol="0" anchor="ctr"/>
          <a:lstStyle/>
          <a:p>
            <a:pPr indent="0" marL="0">
              <a:buNone/>
            </a:pPr>
            <a:r>
              <a:rPr lang="en-US" sz="1150" b="1" spc="250" kern="0" dirty="0">
                <a:solidFill>
                  <a:schemeClr val="accent1"/>
                </a:solidFill>
              </a:rPr>
              <a:t>CLOSING</a:t>
            </a:r>
            <a:endParaRPr lang="en-US" sz="1150" dirty="0"/>
          </a:p>
        </p:txBody>
      </p:sp>
      <p:sp>
        <p:nvSpPr>
          <p:cNvPr id="3" name="Text 0"/>
          <p:cNvSpPr/>
          <p:nvPr>
            <p:ph idx="100" type="title" hasCustomPrompt="1"/>
          </p:nvPr>
        </p:nvSpPr>
        <p:spPr>
          <a:xfrm>
            <a:off x="548640" y="1417320"/>
            <a:ext cx="8595360" cy="2103120"/>
          </a:xfrm>
          <a:prstGeom prst="rect">
            <a:avLst/>
          </a:prstGeom>
          <a:noFill/>
          <a:ln/>
        </p:spPr>
        <p:txBody>
          <a:bodyPr wrap="square" lIns="0" tIns="0" rIns="0" bIns="0" rtlCol="0" anchor="t"/>
          <a:lstStyle/>
          <a:p>
            <a:pPr algn="l" indent="0" marL="0">
              <a:buNone/>
            </a:pPr>
            <a:r>
              <a:rPr lang="en-US" sz="4400" dirty="0">
                <a:solidFill>
                  <a:schemeClr val="bg1"/>
                </a:solidFill>
                <a:latin typeface="Georgia" pitchFamily="34" charset="0"/>
                <a:ea typeface="Georgia" pitchFamily="34" charset="-122"/>
                <a:cs typeface="Georgia" pitchFamily="34" charset="-120"/>
              </a:rPr>
              <a:t>Don't just generate an answer. Show why it deserves to be trusted.</a:t>
            </a:r>
            <a:endParaRPr lang="en-US" sz="4400" dirty="0"/>
          </a:p>
        </p:txBody>
      </p:sp>
      <p:sp>
        <p:nvSpPr>
          <p:cNvPr id="4" name="Text 2"/>
          <p:cNvSpPr txBox="1"/>
          <p:nvPr/>
        </p:nvSpPr>
        <p:spPr>
          <a:xfrm>
            <a:off x="548640" y="3657600"/>
            <a:ext cx="7863840" cy="822960"/>
          </a:xfrm>
          <a:prstGeom prst="rect">
            <a:avLst/>
          </a:prstGeom>
          <a:noFill/>
          <a:ln/>
        </p:spPr>
        <p:txBody>
          <a:bodyPr wrap="square" lIns="0" tIns="0" rIns="0" bIns="0" rtlCol="0" anchor="t"/>
          <a:lstStyle/>
          <a:p>
            <a:pPr indent="0" marL="0">
              <a:buNone/>
            </a:pPr>
            <a:r>
              <a:rPr lang="en-US" sz="1900" dirty="0">
                <a:solidFill>
                  <a:schemeClr val="bg2"/>
                </a:solidFill>
              </a:rPr>
              <a:t>HNX treats every legal answer as a claim that must carry its evidence — or say plainly that the evidence isn't there.</a:t>
            </a:r>
            <a:endParaRPr lang="en-US" sz="1900" dirty="0"/>
          </a:p>
        </p:txBody>
      </p:sp>
      <p:sp>
        <p:nvSpPr>
          <p:cNvPr id="5" name="Invitation"/>
          <p:cNvSpPr/>
          <p:nvPr/>
        </p:nvSpPr>
        <p:spPr>
          <a:xfrm>
            <a:off x="548640" y="4663440"/>
            <a:ext cx="6720840" cy="685800"/>
          </a:xfrm>
          <a:prstGeom prst="roundRect">
            <a:avLst>
              <a:gd name="adj" fmla="val 10667"/>
            </a:avLst>
          </a:prstGeom>
          <a:solidFill>
            <a:srgbClr val="101827"/>
          </a:solidFill>
          <a:ln w="9525">
            <a:solidFill>
              <a:srgbClr val="C5A059"/>
            </a:solidFill>
            <a:prstDash val="solid"/>
          </a:ln>
        </p:spPr>
      </p:sp>
      <p:sp>
        <p:nvSpPr>
          <p:cNvPr id="6" name="Text 4"/>
          <p:cNvSpPr txBox="1"/>
          <p:nvPr/>
        </p:nvSpPr>
        <p:spPr>
          <a:xfrm>
            <a:off x="777240" y="4663440"/>
            <a:ext cx="6400800" cy="685800"/>
          </a:xfrm>
          <a:prstGeom prst="rect">
            <a:avLst/>
          </a:prstGeom>
          <a:noFill/>
          <a:ln/>
        </p:spPr>
        <p:txBody>
          <a:bodyPr wrap="square" lIns="0" tIns="0" rIns="0" bIns="0" rtlCol="0" anchor="ctr"/>
          <a:lstStyle/>
          <a:p>
            <a:pPr indent="0" marL="0">
              <a:buNone/>
            </a:pPr>
            <a:r>
              <a:rPr lang="en-US" sz="1500" b="1" dirty="0">
                <a:solidFill>
                  <a:schemeClr val="accent1"/>
                </a:solidFill>
              </a:rPr>
              <a:t>Ask us anything about the unseen contract — then inspect the evidence trail.</a:t>
            </a:r>
            <a:endParaRPr lang="en-US" sz="1500" dirty="0"/>
          </a:p>
        </p:txBody>
      </p:sp>
      <p:pic>
        <p:nvPicPr>
          <p:cNvPr id="7" name="HNX mark large" descr="C:\Prabhav\Hacknex26\presentation\assets\hnx_mark.png">    </p:cNvPr>
          <p:cNvPicPr>
            <a:picLocks noChangeAspect="1"/>
          </p:cNvPicPr>
          <p:nvPr/>
        </p:nvPicPr>
        <p:blipFill>
          <a:blip r:embed="rId1"/>
          <a:stretch>
            <a:fillRect/>
          </a:stretch>
        </p:blipFill>
        <p:spPr>
          <a:xfrm>
            <a:off x="9646920" y="1463040"/>
            <a:ext cx="1920240" cy="1920240"/>
          </a:xfrm>
          <a:prstGeom prst="rect">
            <a:avLst/>
          </a:prstGeom>
        </p:spPr>
      </p:pic>
      <p:sp>
        <p:nvSpPr>
          <p:cNvPr id="8" name="Text 5"/>
          <p:cNvSpPr txBox="1"/>
          <p:nvPr/>
        </p:nvSpPr>
        <p:spPr>
          <a:xfrm>
            <a:off x="8778240" y="3611880"/>
            <a:ext cx="2862072" cy="1005840"/>
          </a:xfrm>
          <a:prstGeom prst="rect">
            <a:avLst/>
          </a:prstGeom>
          <a:noFill/>
          <a:ln/>
        </p:spPr>
        <p:txBody>
          <a:bodyPr wrap="square" lIns="0" tIns="0" rIns="0" bIns="0" rtlCol="0" anchor="t"/>
          <a:lstStyle/>
          <a:p>
            <a:pPr algn="ctr" indent="0" marL="0">
              <a:buNone/>
            </a:pPr>
            <a:r>
              <a:rPr lang="en-US" sz="1800" dirty="0">
                <a:solidFill>
                  <a:srgbClr val="F4F0E8"/>
                </a:solidFill>
                <a:latin typeface="Georgia" pitchFamily="34" charset="0"/>
                <a:ea typeface="Georgia" pitchFamily="34" charset="-122"/>
                <a:cs typeface="Georgia" pitchFamily="34" charset="-120"/>
              </a:rPr>
              <a:t>HNX Legal Intelligence</a:t>
            </a:r>
            <a:endParaRPr lang="en-US" sz="1800" dirty="0"/>
          </a:p>
          <a:p>
            <a:pPr algn="ctr" indent="0" marL="0">
              <a:buNone/>
            </a:pPr>
            <a:r>
              <a:rPr lang="en-US" sz="1300" dirty="0">
                <a:solidFill>
                  <a:srgbClr val="AEB6C4"/>
                </a:solidFill>
              </a:rPr>
              <a:t>Team No Sleep Till Deploy</a:t>
            </a:r>
            <a:endParaRPr lang="en-US" sz="1800" dirty="0"/>
          </a:p>
          <a:p>
            <a:pPr algn="ctr" indent="0" marL="0">
              <a:buNone/>
            </a:pPr>
            <a:r>
              <a:rPr lang="en-US" sz="1100" spc="200" kern="0" dirty="0">
                <a:solidFill>
                  <a:srgbClr val="C5A059"/>
                </a:solidFill>
              </a:rPr>
              <a:t>HACKNEX 2026 · HNX26EPS01</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APPENDIX A1 · FOR QUESTIONS</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Evaluation runs and their caveats</a:t>
            </a:r>
            <a:endParaRPr lang="en-US" sz="3200" dirty="0"/>
          </a:p>
        </p:txBody>
      </p:sp>
      <p:graphicFrame>
        <p:nvGraphicFramePr>
          <p:cNvPr id="12" name="Evaluation runs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28800"/>
                <a:gridCol w="2423160"/>
                <a:gridCol w="2057400"/>
                <a:gridCol w="2514600"/>
                <a:gridCol w="2267712"/>
              </a:tblGrid>
              <a:tr h="384048">
                <a:tc>
                  <a:txBody>
                    <a:bodyPr/>
                    <a:lstStyle/>
                    <a:p>
                      <a:pPr indent="0" marL="0">
                        <a:buNone/>
                      </a:pPr>
                      <a:r>
                        <a:rPr lang="en-US" sz="1150" b="1" dirty="0">
                          <a:solidFill>
                            <a:srgbClr val="080C15"/>
                          </a:solidFill>
                          <a:latin typeface="Calibri" pitchFamily="34" charset="0"/>
                          <a:ea typeface="Calibri" pitchFamily="34" charset="-122"/>
                          <a:cs typeface="Calibri" pitchFamily="34" charset="-120"/>
                        </a:rPr>
                        <a:t>Run</a:t>
                      </a:r>
                      <a:endParaRPr lang="en-US" sz="115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C5A059"/>
                    </a:solidFill>
                  </a:tcPr>
                </a:tc>
                <a:tc>
                  <a:txBody>
                    <a:bodyPr/>
                    <a:lstStyle/>
                    <a:p>
                      <a:pPr indent="0" marL="0">
                        <a:buNone/>
                      </a:pPr>
                      <a:r>
                        <a:rPr lang="en-US" sz="1150" b="1" dirty="0">
                          <a:solidFill>
                            <a:srgbClr val="080C15"/>
                          </a:solidFill>
                          <a:latin typeface="Calibri" pitchFamily="34" charset="0"/>
                          <a:ea typeface="Calibri" pitchFamily="34" charset="-122"/>
                          <a:cs typeface="Calibri" pitchFamily="34" charset="-120"/>
                        </a:rPr>
                        <a:t>What ran</a:t>
                      </a:r>
                      <a:endParaRPr lang="en-US" sz="115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C5A059"/>
                    </a:solidFill>
                  </a:tcPr>
                </a:tc>
                <a:tc>
                  <a:txBody>
                    <a:bodyPr/>
                    <a:lstStyle/>
                    <a:p>
                      <a:pPr indent="0" marL="0">
                        <a:buNone/>
                      </a:pPr>
                      <a:r>
                        <a:rPr lang="en-US" sz="1150" b="1" dirty="0">
                          <a:solidFill>
                            <a:srgbClr val="080C15"/>
                          </a:solidFill>
                          <a:latin typeface="Calibri" pitchFamily="34" charset="0"/>
                          <a:ea typeface="Calibri" pitchFamily="34" charset="-122"/>
                          <a:cs typeface="Calibri" pitchFamily="34" charset="-120"/>
                        </a:rPr>
                        <a:t>Data</a:t>
                      </a:r>
                      <a:endParaRPr lang="en-US" sz="115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C5A059"/>
                    </a:solidFill>
                  </a:tcPr>
                </a:tc>
                <a:tc>
                  <a:txBody>
                    <a:bodyPr/>
                    <a:lstStyle/>
                    <a:p>
                      <a:pPr indent="0" marL="0">
                        <a:buNone/>
                      </a:pPr>
                      <a:r>
                        <a:rPr lang="en-US" sz="1150" b="1" dirty="0">
                          <a:solidFill>
                            <a:srgbClr val="080C15"/>
                          </a:solidFill>
                          <a:latin typeface="Calibri" pitchFamily="34" charset="0"/>
                          <a:ea typeface="Calibri" pitchFamily="34" charset="-122"/>
                          <a:cs typeface="Calibri" pitchFamily="34" charset="-120"/>
                        </a:rPr>
                        <a:t>Headline results</a:t>
                      </a:r>
                      <a:endParaRPr lang="en-US" sz="115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C5A059"/>
                    </a:solidFill>
                  </a:tcPr>
                </a:tc>
                <a:tc>
                  <a:txBody>
                    <a:bodyPr/>
                    <a:lstStyle/>
                    <a:p>
                      <a:pPr indent="0" marL="0">
                        <a:buNone/>
                      </a:pPr>
                      <a:r>
                        <a:rPr lang="en-US" sz="1150" b="1" dirty="0">
                          <a:solidFill>
                            <a:srgbClr val="080C15"/>
                          </a:solidFill>
                          <a:latin typeface="Calibri" pitchFamily="34" charset="0"/>
                          <a:ea typeface="Calibri" pitchFamily="34" charset="-122"/>
                          <a:cs typeface="Calibri" pitchFamily="34" charset="-120"/>
                        </a:rPr>
                        <a:t>Caveats</a:t>
                      </a:r>
                      <a:endParaRPr lang="en-US" sz="115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C5A059"/>
                    </a:solidFill>
                  </a:tcPr>
                </a:tc>
              </a:tr>
              <a:tr h="1024128">
                <a:tc>
                  <a:txBody>
                    <a:bodyPr/>
                    <a:lstStyle/>
                    <a:p>
                      <a:pPr indent="0" marL="0">
                        <a:buNone/>
                      </a:pPr>
                      <a:r>
                        <a:rPr lang="en-US" sz="1100" b="1" dirty="0">
                          <a:solidFill>
                            <a:srgbClr val="F4F0E8"/>
                          </a:solidFill>
                          <a:latin typeface="Calibri" pitchFamily="34" charset="0"/>
                          <a:ea typeface="Calibri" pitchFamily="34" charset="-122"/>
                          <a:cs typeface="Calibri" pitchFamily="34" charset="-120"/>
                        </a:rPr>
                        <a:t>Real-LLM baseline · 8 Oct</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Plain hybrid RAG, top-4; Gemini 3.5 Flash; gemini-embedding-001 (3072-d)</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16 questions; 9 internal technical documents, 52 chunks</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Recall@4 100% · groundedness 100%* · usefulness 85%* · abstention 15/16 · out-of-set citations 0</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AEB6C4"/>
                          </a:solidFill>
                          <a:latin typeface="Calibri" pitchFamily="34" charset="0"/>
                          <a:ea typeface="Calibri" pitchFamily="34" charset="-122"/>
                          <a:cs typeface="Calibri" pitchFamily="34" charset="-120"/>
                        </a:rPr>
                        <a:t>*lexical heuristics, not entailment; document-level recall; 3/28 quotes not exact; false-premise QA-015 wrongly abstained</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r>
              <a:tr h="914400">
                <a:tc>
                  <a:txBody>
                    <a:bodyPr/>
                    <a:lstStyle/>
                    <a:p>
                      <a:pPr indent="0" marL="0">
                        <a:buNone/>
                      </a:pPr>
                      <a:r>
                        <a:rPr lang="en-US" sz="1100" b="1" dirty="0">
                          <a:solidFill>
                            <a:srgbClr val="F4F0E8"/>
                          </a:solidFill>
                          <a:latin typeface="Calibri" pitchFamily="34" charset="0"/>
                          <a:ea typeface="Calibri" pitchFamily="34" charset="-122"/>
                          <a:cs typeface="Calibri" pitchFamily="34" charset="-120"/>
                        </a:rPr>
                        <a:t>Adversarial stress test · 8 Oct</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Baseline vs JC-PAR (JARF + CPDE + ESV); extractive generator</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25 legal cases (3 unanswerable, 5 jurisdiction)</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Failure 80% → 72% · abstention 0/3 → 3/3 · contradictions 3 → 1 · Recall@5 68.2% → 54.5%</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AEB6C4"/>
                          </a:solidFill>
                          <a:latin typeface="Calibri" pitchFamily="34" charset="0"/>
                          <a:ea typeface="Calibri" pitchFamily="34" charset="-122"/>
                          <a:cs typeface="Calibri" pitchFamily="34" charset="-120"/>
                        </a:rPr>
                        <a:t>No LLM; earlier code snapshot; jurisdiction accuracy 2/5 for every variant</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r>
              <a:tr h="777240">
                <a:tc>
                  <a:txBody>
                    <a:bodyPr/>
                    <a:lstStyle/>
                    <a:p>
                      <a:pPr indent="0" marL="0">
                        <a:buNone/>
                      </a:pPr>
                      <a:r>
                        <a:rPr lang="en-US" sz="1100" b="1" dirty="0">
                          <a:solidFill>
                            <a:srgbClr val="F4F0E8"/>
                          </a:solidFill>
                          <a:latin typeface="Calibri" pitchFamily="34" charset="0"/>
                          <a:ea typeface="Calibri" pitchFamily="34" charset="-122"/>
                          <a:cs typeface="Calibri" pitchFamily="34" charset="-120"/>
                        </a:rPr>
                        <a:t>Automated tests · 9 Oct</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pytest, 9 test files</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34 tests incl. 10 unseen-contract scenarios</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34 passed in 13.8 s</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AEB6C4"/>
                          </a:solidFill>
                          <a:latin typeface="Calibri" pitchFamily="34" charset="0"/>
                          <a:ea typeface="Calibri" pitchFamily="34" charset="-122"/>
                          <a:cs typeface="Calibri" pitchFamily="34" charset="-120"/>
                        </a:rPr>
                        <a:t>Most unseen-contract tests use the extractive path; the conflict test accepts several states</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r>
              <a:tr h="868680">
                <a:tc>
                  <a:txBody>
                    <a:bodyPr/>
                    <a:lstStyle/>
                    <a:p>
                      <a:pPr indent="0" marL="0">
                        <a:buNone/>
                      </a:pPr>
                      <a:r>
                        <a:rPr lang="en-US" sz="1100" b="1" dirty="0">
                          <a:solidFill>
                            <a:srgbClr val="F4F0E8"/>
                          </a:solidFill>
                          <a:latin typeface="Calibri" pitchFamily="34" charset="0"/>
                          <a:ea typeface="Calibri" pitchFamily="34" charset="-122"/>
                          <a:cs typeface="Calibri" pitchFamily="34" charset="-120"/>
                        </a:rPr>
                        <a:t>Live demo check · 9 Oct</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/api/ask on UNSEEN-LOGISTICS-001, scoped by doc_id</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4 questions</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F4F0E8"/>
                          </a:solidFill>
                          <a:latin typeface="Calibri" pitchFamily="34" charset="0"/>
                          <a:ea typeface="Calibri" pitchFamily="34" charset="-122"/>
                          <a:cs typeface="Calibri" pitchFamily="34" charset="-120"/>
                        </a:rPr>
                        <a:t>3 answered with verbatim quotes (status SUPPORTED) · 1 correct abstention, 0 citations</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c>
                  <a:txBody>
                    <a:bodyPr/>
                    <a:lstStyle/>
                    <a:p>
                      <a:pPr indent="0" marL="0">
                        <a:buNone/>
                      </a:pPr>
                      <a:r>
                        <a:rPr lang="en-US" sz="1100" dirty="0">
                          <a:solidFill>
                            <a:srgbClr val="AEB6C4"/>
                          </a:solidFill>
                          <a:latin typeface="Calibri" pitchFamily="34" charset="0"/>
                          <a:ea typeface="Calibri" pitchFamily="34" charset="-122"/>
                          <a:cs typeface="Calibri" pitchFamily="34" charset="-120"/>
                        </a:rPr>
                        <a:t>Gemini unavailable → extractive path; payment-terms answer missed the 30-day term</a:t>
                      </a:r>
                      <a:endParaRPr lang="en-US" sz="1100" dirty="0">
                        <a:latin typeface="Calibri" charset="0"/>
                        <a:ea typeface="Calibri" charset="0"/>
                        <a:cs typeface="Calibri" charset="0"/>
                      </a:endParaRPr>
                    </a:p>
                  </a:txBody>
                  <a:tcPr marL="91440" marR="91440" marT="54864" marB="54864" anchor="ctr">
                    <a:lnL w="9525" cap="flat" cmpd="sng" algn="ctr">
                      <a:solidFill>
                        <a:srgbClr val="33405A"/>
                      </a:solidFill>
                      <a:prstDash val="solid"/>
                      <a:round/>
                      <a:headEnd type="none" w="med" len="med"/>
                      <a:tailEnd type="none" w="med" len="med"/>
                    </a:lnL>
                    <a:lnR w="9525" cap="flat" cmpd="sng" algn="ctr">
                      <a:solidFill>
                        <a:srgbClr val="33405A"/>
                      </a:solidFill>
                      <a:prstDash val="solid"/>
                      <a:round/>
                      <a:headEnd type="none" w="med" len="med"/>
                      <a:tailEnd type="none" w="med" len="med"/>
                    </a:lnR>
                    <a:lnT w="9525" cap="flat" cmpd="sng" algn="ctr">
                      <a:solidFill>
                        <a:srgbClr val="33405A"/>
                      </a:solidFill>
                      <a:prstDash val="solid"/>
                      <a:round/>
                      <a:headEnd type="none" w="med" len="med"/>
                      <a:tailEnd type="none" w="med" len="med"/>
                    </a:lnT>
                    <a:lnB w="9525" cap="flat" cmpd="sng" algn="ctr">
                      <a:solidFill>
                        <a:srgbClr val="33405A"/>
                      </a:solidFill>
                      <a:prstDash val="solid"/>
                      <a:round/>
                      <a:headEnd type="none" w="med" len="med"/>
                      <a:tailEnd type="none" w="med" len="med"/>
                    </a:lnB>
                    <a:solidFill>
                      <a:srgbClr val="101827"/>
                    </a:solidFill>
                  </a:tcPr>
                </a:tc>
              </a:tr>
            </a:tbl>
          </a:graphicData>
        </a:graphic>
      </p:graphicFrame>
      <p:sp>
        <p:nvSpPr>
          <p:cNvPr id="5" name="Text 2"/>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000" i="1" dirty="0">
                <a:solidFill>
                  <a:schemeClr val="bg2"/>
                </a:solidFill>
              </a:rPr>
              <a:t>Sources: data/results/baseline_gemini_hybrid_rrf.json · data/results/ablation/*.json · pytest run of 9 Oct 2026 · presentation/assets/demo_verification.json</a:t>
            </a:r>
            <a:endParaRPr lang="en-US" sz="10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100" b="1" spc="250" kern="0" dirty="0">
                <a:solidFill>
                  <a:schemeClr val="accent1"/>
                </a:solidFill>
              </a:rPr>
              <a:t>APPENDIX A2 · DEMO BACKUP</a:t>
            </a:r>
            <a:endParaRPr lang="en-US" sz="1100" dirty="0"/>
          </a:p>
        </p:txBody>
      </p:sp>
      <p:sp>
        <p:nvSpPr>
          <p:cNvPr id="3" name="Text 0"/>
          <p:cNvSpPr/>
          <p:nvPr>
            <p:ph idx="100" type="title" hasCustomPrompt="1"/>
          </p:nvPr>
        </p:nvSpPr>
        <p:spPr>
          <a:xfrm>
            <a:off x="548640" y="566928"/>
            <a:ext cx="11094415" cy="73152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If the live demo is unavailable</a:t>
            </a:r>
            <a:endParaRPr lang="en-US" sz="3200" dirty="0"/>
          </a:p>
        </p:txBody>
      </p:sp>
      <p:pic>
        <p:nvPicPr>
          <p:cNvPr id="4" name="Screenshot 06_unseen_cross_clause.png" descr="C:\Prabhav\Hacknex26\presentation\assets\screenshots\06_unseen_cross_clause.png">    </p:cNvPr>
          <p:cNvPicPr>
            <a:picLocks noChangeAspect="1"/>
          </p:cNvPicPr>
          <p:nvPr/>
        </p:nvPicPr>
        <p:blipFill>
          <a:blip r:embed="rId1"/>
          <a:stretch>
            <a:fillRect/>
          </a:stretch>
        </p:blipFill>
        <p:spPr>
          <a:xfrm>
            <a:off x="548640" y="1600200"/>
            <a:ext cx="5431536" cy="3054096"/>
          </a:xfrm>
          <a:prstGeom prst="rect">
            <a:avLst/>
          </a:prstGeom>
          <a:effectLst>
            <a:outerShdw sx="100000" sy="100000" kx="0" ky="0" algn="bl" rotWithShape="0" blurRad="127000" dist="38100" dir="5400000">
              <a:srgbClr val="000000">
                <a:alpha val="50000"/>
              </a:srgbClr>
            </a:outerShdw>
          </a:effectLst>
        </p:spPr>
      </p:pic>
      <p:sp>
        <p:nvSpPr>
          <p:cNvPr id="5" name="Text 2"/>
          <p:cNvSpPr txBox="1"/>
          <p:nvPr/>
        </p:nvSpPr>
        <p:spPr>
          <a:xfrm>
            <a:off x="548640" y="4773168"/>
            <a:ext cx="5431536" cy="731520"/>
          </a:xfrm>
          <a:prstGeom prst="rect">
            <a:avLst/>
          </a:prstGeom>
          <a:noFill/>
          <a:ln/>
        </p:spPr>
        <p:txBody>
          <a:bodyPr wrap="square" lIns="0" tIns="0" rIns="0" bIns="0" rtlCol="0" anchor="t"/>
          <a:lstStyle/>
          <a:p>
            <a:pPr indent="0" marL="0">
              <a:buNone/>
            </a:pPr>
            <a:r>
              <a:rPr lang="en-US" sz="1300" dirty="0">
                <a:solidFill>
                  <a:schemeClr val="bg2"/>
                </a:solidFill>
              </a:rPr>
              <a:t>Contract Workspace on UNSEEN-LOGISTICS-001: the cross-clause question returns SUPPORTED with §2.3, §2 and §5 as evidence sources.</a:t>
            </a:r>
            <a:endParaRPr lang="en-US" sz="1300" dirty="0"/>
          </a:p>
        </p:txBody>
      </p:sp>
      <p:pic>
        <p:nvPicPr>
          <p:cNvPr id="6" name="Screenshot 05_drafting_output.png" descr="C:\Prabhav\Hacknex26\presentation\assets\screenshots\05_drafting_output.png">    </p:cNvPr>
          <p:cNvPicPr>
            <a:picLocks noChangeAspect="1"/>
          </p:cNvPicPr>
          <p:nvPr/>
        </p:nvPicPr>
        <p:blipFill>
          <a:blip r:embed="rId2"/>
          <a:stretch>
            <a:fillRect/>
          </a:stretch>
        </p:blipFill>
        <p:spPr>
          <a:xfrm>
            <a:off x="6208776" y="1600200"/>
            <a:ext cx="5431536" cy="3054096"/>
          </a:xfrm>
          <a:prstGeom prst="rect">
            <a:avLst/>
          </a:prstGeom>
          <a:effectLst>
            <a:outerShdw sx="100000" sy="100000" kx="0" ky="0" algn="bl" rotWithShape="0" blurRad="127000" dist="38100" dir="5400000">
              <a:srgbClr val="000000">
                <a:alpha val="50000"/>
              </a:srgbClr>
            </a:outerShdw>
          </a:effectLst>
        </p:spPr>
      </p:pic>
      <p:sp>
        <p:nvSpPr>
          <p:cNvPr id="7" name="Text 3"/>
          <p:cNvSpPr txBox="1"/>
          <p:nvPr/>
        </p:nvSpPr>
        <p:spPr>
          <a:xfrm>
            <a:off x="6208776" y="4773168"/>
            <a:ext cx="5431536" cy="731520"/>
          </a:xfrm>
          <a:prstGeom prst="rect">
            <a:avLst/>
          </a:prstGeom>
          <a:noFill/>
          <a:ln/>
        </p:spPr>
        <p:txBody>
          <a:bodyPr wrap="square" lIns="0" tIns="0" rIns="0" bIns="0" rtlCol="0" anchor="t"/>
          <a:lstStyle/>
          <a:p>
            <a:pPr indent="0" marL="0">
              <a:buNone/>
            </a:pPr>
            <a:r>
              <a:rPr lang="en-US" sz="1300" dirty="0">
                <a:solidFill>
                  <a:schemeClr val="bg2"/>
                </a:solidFill>
              </a:rPr>
              <a:t>Legal Drafting: notice generated from retrieved clauses, with the DRAFT — REQUIRES LAWYER REVIEW banner and a separate contract-evidence panel.</a:t>
            </a:r>
            <a:endParaRPr lang="en-US" sz="1300" dirty="0"/>
          </a:p>
        </p:txBody>
      </p:sp>
      <p:sp>
        <p:nvSpPr>
          <p:cNvPr id="8" name="Text 4"/>
          <p:cNvSpPr txBox="1"/>
          <p:nvPr/>
        </p:nvSpPr>
        <p:spPr>
          <a:xfrm>
            <a:off x="548640" y="5852160"/>
            <a:ext cx="11094415" cy="274320"/>
          </a:xfrm>
          <a:prstGeom prst="rect">
            <a:avLst/>
          </a:prstGeom>
          <a:noFill/>
          <a:ln/>
        </p:spPr>
        <p:txBody>
          <a:bodyPr wrap="square" lIns="0" tIns="0" rIns="0" bIns="0" rtlCol="0" anchor="ctr"/>
          <a:lstStyle/>
          <a:p>
            <a:pPr indent="0" marL="0">
              <a:buNone/>
            </a:pPr>
            <a:r>
              <a:rPr lang="en-US" sz="1000" i="1" dirty="0">
                <a:solidFill>
                  <a:schemeClr val="bg2"/>
                </a:solidFill>
              </a:rPr>
              <a:t>Captured from the running product on 9 Oct 2026 (headless Edge, 1600 × 900).</a:t>
            </a:r>
            <a:endParaRPr lang="en-US" sz="1000" dirty="0"/>
          </a:p>
        </p:txBody>
      </p:sp>
      <p:sp>
        <p:nvSpPr>
          <p:cNvPr id="25" name="Slide Number Placeholder 0"/>
          <p:cNvSpPr>
            <a:spLocks noGrp="1"/>
          </p:cNvSpPr>
          <p:nvPr>
            <p:ph type="sldNum" sz="quarter" idx="4294967295"/>
          </p:nvPr>
        </p:nvSpPr>
        <p:spPr>
          <a:xfrm>
            <a:off x="11094415" y="637336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6C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HNX Legal Editorial">
  <a:themeElements>
    <a:clrScheme name="HNX Legal Editorial">
      <a:dk1>
        <a:srgbClr val="080C15"/>
      </a:dk1>
      <a:lt1>
        <a:srgbClr val="F4F0E8"/>
      </a:lt1>
      <a:dk2>
        <a:srgbClr val="101827"/>
      </a:dk2>
      <a:lt2>
        <a:srgbClr val="AEB6C4"/>
      </a:lt2>
      <a:accent1>
        <a:srgbClr val="C5A059"/>
      </a:accent1>
      <a:accent2>
        <a:srgbClr val="202B3D"/>
      </a:accent2>
      <a:accent3>
        <a:srgbClr val="4CB58A"/>
      </a:accent3>
      <a:accent4>
        <a:srgbClr val="E2A93B"/>
      </a:accent4>
      <a:accent5>
        <a:srgbClr val="9A86D8"/>
      </a:accent5>
      <a:accent6>
        <a:srgbClr val="D9654E"/>
      </a:accent6>
      <a:hlink>
        <a:srgbClr val="DFBE7C"/>
      </a:hlink>
      <a:folHlink>
        <a:srgbClr val="9E7D3B"/>
      </a:folHlink>
    </a:clrScheme>
    <a:fontScheme name="HNX Legal Editoria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HNX Legal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HNX Legal Intelligence — HACKNEX 2026 pitch</dc:title>
  <dc:subject>HNX26EPS01 — Agentic Legal Assistant</dc:subject>
  <dc:creator>Team No Sleep Till Deploy</dc:creator>
  <cp:lastModifiedBy>Team No Sleep Till Deploy</cp:lastModifiedBy>
  <cp:revision>1</cp:revision>
  <dcterms:created xsi:type="dcterms:W3CDTF">2026-10-10T04:27:54Z</dcterms:created>
  <dcterms:modified xsi:type="dcterms:W3CDTF">2026-10-10T04:27:54Z</dcterms:modified>
</cp:coreProperties>
</file>